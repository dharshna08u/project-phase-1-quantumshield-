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Times New Roman Bold" panose="02020803070505020304" pitchFamily="18" charset="0"/>
      <p:bold r:id="rId15"/>
    </p:embeddedFont>
    <p:embeddedFont>
      <p:font typeface="Verdana" panose="020B0604030504040204" pitchFamily="34" charset="0"/>
      <p:regular r:id="rId16"/>
      <p:bold r:id="rId17"/>
      <p:italic r:id="rId18"/>
      <p:boldItalic r:id="rId19"/>
    </p:embeddedFont>
    <p:embeddedFont>
      <p:font typeface="Verdana Bold" panose="020B0804030504040204" pitchFamily="34" charset="0"/>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82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10-07T06:45:01.793" idx="1">
    <p:pos x="11520" y="0"/>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257300" y="1509774"/>
            <a:ext cx="15773400" cy="1608104"/>
            <a:chOff x="0" y="0"/>
            <a:chExt cx="21031200" cy="2144138"/>
          </a:xfrm>
        </p:grpSpPr>
        <p:sp>
          <p:nvSpPr>
            <p:cNvPr id="4" name="Freeform 4"/>
            <p:cNvSpPr/>
            <p:nvPr/>
          </p:nvSpPr>
          <p:spPr>
            <a:xfrm>
              <a:off x="0" y="0"/>
              <a:ext cx="21031200" cy="2144134"/>
            </a:xfrm>
            <a:custGeom>
              <a:avLst/>
              <a:gdLst/>
              <a:ahLst/>
              <a:cxnLst/>
              <a:rect l="l" t="t" r="r" b="b"/>
              <a:pathLst>
                <a:path w="21031200" h="2144134">
                  <a:moveTo>
                    <a:pt x="0" y="0"/>
                  </a:moveTo>
                  <a:lnTo>
                    <a:pt x="21031200" y="0"/>
                  </a:lnTo>
                  <a:lnTo>
                    <a:pt x="21031200" y="2144134"/>
                  </a:lnTo>
                  <a:lnTo>
                    <a:pt x="0" y="2144134"/>
                  </a:lnTo>
                  <a:close/>
                </a:path>
              </a:pathLst>
            </a:custGeom>
            <a:blipFill>
              <a:blip r:embed="rId3">
                <a:alphaModFix amt="0"/>
              </a:blip>
              <a:stretch>
                <a:fillRect t="-157428" b="-124817"/>
              </a:stretch>
            </a:blipFill>
          </p:spPr>
        </p:sp>
        <p:sp>
          <p:nvSpPr>
            <p:cNvPr id="5" name="TextBox 5"/>
            <p:cNvSpPr txBox="1"/>
            <p:nvPr/>
          </p:nvSpPr>
          <p:spPr>
            <a:xfrm>
              <a:off x="0" y="133350"/>
              <a:ext cx="21031200" cy="2010788"/>
            </a:xfrm>
            <a:prstGeom prst="rect">
              <a:avLst/>
            </a:prstGeom>
          </p:spPr>
          <p:txBody>
            <a:bodyPr lIns="0" tIns="0" rIns="0" bIns="0" rtlCol="0" anchor="ctr"/>
            <a:lstStyle/>
            <a:p>
              <a:pPr algn="ctr">
                <a:lnSpc>
                  <a:spcPts val="3355"/>
                </a:lnSpc>
              </a:pPr>
              <a:r>
                <a:rPr lang="en-US" sz="3885" b="1">
                  <a:solidFill>
                    <a:srgbClr val="002060"/>
                  </a:solidFill>
                  <a:latin typeface="Verdana Bold" panose="020B0804030504040204"/>
                  <a:ea typeface="Verdana Bold" panose="020B0804030504040204"/>
                  <a:cs typeface="Verdana Bold" panose="020B0804030504040204"/>
                  <a:sym typeface="Verdana Bold" panose="020B0804030504040204"/>
                </a:rPr>
                <a:t>Department of Computer Science and Engineering</a:t>
              </a:r>
            </a:p>
            <a:p>
              <a:pPr algn="ctr">
                <a:lnSpc>
                  <a:spcPts val="3355"/>
                </a:lnSpc>
              </a:pPr>
              <a:r>
                <a:rPr lang="en-US" sz="3885" b="1">
                  <a:solidFill>
                    <a:srgbClr val="002060"/>
                  </a:solidFill>
                  <a:latin typeface="Verdana Bold" panose="020B0804030504040204"/>
                  <a:ea typeface="Verdana Bold" panose="020B0804030504040204"/>
                  <a:cs typeface="Verdana Bold" panose="020B0804030504040204"/>
                  <a:sym typeface="Verdana Bold" panose="020B0804030504040204"/>
                </a:rPr>
                <a:t>(Cyber Security)</a:t>
              </a:r>
            </a:p>
            <a:p>
              <a:pPr algn="ctr">
                <a:lnSpc>
                  <a:spcPts val="3355"/>
                </a:lnSpc>
              </a:pPr>
              <a:endParaRPr lang="en-US" sz="3885" b="1">
                <a:solidFill>
                  <a:srgbClr val="002060"/>
                </a:solidFill>
                <a:latin typeface="Verdana Bold" panose="020B0804030504040204"/>
                <a:ea typeface="Verdana Bold" panose="020B0804030504040204"/>
                <a:cs typeface="Verdana Bold" panose="020B0804030504040204"/>
                <a:sym typeface="Verdana Bold" panose="020B0804030504040204"/>
              </a:endParaRPr>
            </a:p>
          </p:txBody>
        </p:sp>
      </p:grpSp>
      <p:sp>
        <p:nvSpPr>
          <p:cNvPr id="6" name="Freeform 6"/>
          <p:cNvSpPr/>
          <p:nvPr/>
        </p:nvSpPr>
        <p:spPr>
          <a:xfrm>
            <a:off x="273652" y="176587"/>
            <a:ext cx="4354797" cy="1404422"/>
          </a:xfrm>
          <a:custGeom>
            <a:avLst/>
            <a:gdLst/>
            <a:ahLst/>
            <a:cxnLst/>
            <a:rect l="l" t="t" r="r" b="b"/>
            <a:pathLst>
              <a:path w="4354797" h="1404422">
                <a:moveTo>
                  <a:pt x="0" y="0"/>
                </a:moveTo>
                <a:lnTo>
                  <a:pt x="4354797" y="0"/>
                </a:lnTo>
                <a:lnTo>
                  <a:pt x="4354797" y="1404422"/>
                </a:lnTo>
                <a:lnTo>
                  <a:pt x="0" y="1404422"/>
                </a:lnTo>
                <a:lnTo>
                  <a:pt x="0" y="0"/>
                </a:lnTo>
                <a:close/>
              </a:path>
            </a:pathLst>
          </a:custGeom>
          <a:blipFill>
            <a:blip r:embed="rId4"/>
            <a:stretch>
              <a:fillRect/>
            </a:stretch>
          </a:blipFill>
        </p:spPr>
      </p:sp>
      <p:sp>
        <p:nvSpPr>
          <p:cNvPr id="7" name="TextBox 7"/>
          <p:cNvSpPr txBox="1"/>
          <p:nvPr/>
        </p:nvSpPr>
        <p:spPr>
          <a:xfrm>
            <a:off x="4476959" y="2821622"/>
            <a:ext cx="8045815" cy="542925"/>
          </a:xfrm>
          <a:prstGeom prst="rect">
            <a:avLst/>
          </a:prstGeom>
        </p:spPr>
        <p:txBody>
          <a:bodyPr lIns="0" tIns="0" rIns="0" bIns="0" rtlCol="0" anchor="t">
            <a:spAutoFit/>
          </a:bodyPr>
          <a:lstStyle/>
          <a:p>
            <a:pPr algn="just">
              <a:lnSpc>
                <a:spcPts val="4320"/>
              </a:lnSpc>
            </a:pPr>
            <a:r>
              <a:rPr lang="en-US" sz="3600" b="1">
                <a:solidFill>
                  <a:srgbClr val="C00000"/>
                </a:solidFill>
                <a:latin typeface="Verdana Bold" panose="020B0804030504040204"/>
                <a:ea typeface="Verdana Bold" panose="020B0804030504040204"/>
                <a:cs typeface="Verdana Bold" panose="020B0804030504040204"/>
                <a:sym typeface="Verdana Bold" panose="020B0804030504040204"/>
              </a:rPr>
              <a:t>Phase I – Project Presentation</a:t>
            </a:r>
          </a:p>
        </p:txBody>
      </p:sp>
      <p:sp>
        <p:nvSpPr>
          <p:cNvPr id="8" name="TextBox 8"/>
          <p:cNvSpPr txBox="1"/>
          <p:nvPr/>
        </p:nvSpPr>
        <p:spPr>
          <a:xfrm>
            <a:off x="8032947" y="3422678"/>
            <a:ext cx="2222106" cy="409575"/>
          </a:xfrm>
          <a:prstGeom prst="rect">
            <a:avLst/>
          </a:prstGeom>
        </p:spPr>
        <p:txBody>
          <a:bodyPr lIns="0" tIns="0" rIns="0" bIns="0" rtlCol="0" anchor="t">
            <a:spAutoFit/>
          </a:bodyPr>
          <a:lstStyle/>
          <a:p>
            <a:pPr algn="l">
              <a:lnSpc>
                <a:spcPts val="3240"/>
              </a:lnSpc>
            </a:pPr>
            <a:r>
              <a:rPr lang="en-US" sz="2700" b="1">
                <a:solidFill>
                  <a:srgbClr val="002060"/>
                </a:solidFill>
                <a:latin typeface="Verdana Bold" panose="020B0804030504040204"/>
                <a:ea typeface="Verdana Bold" panose="020B0804030504040204"/>
                <a:cs typeface="Verdana Bold" panose="020B0804030504040204"/>
                <a:sym typeface="Verdana Bold" panose="020B0804030504040204"/>
              </a:rPr>
              <a:t>2026-2027</a:t>
            </a:r>
          </a:p>
        </p:txBody>
      </p:sp>
      <p:grpSp>
        <p:nvGrpSpPr>
          <p:cNvPr id="9" name="Group 9"/>
          <p:cNvGrpSpPr/>
          <p:nvPr/>
        </p:nvGrpSpPr>
        <p:grpSpPr>
          <a:xfrm>
            <a:off x="11420244" y="7594943"/>
            <a:ext cx="6551063" cy="1722245"/>
            <a:chOff x="152192" y="122084"/>
            <a:chExt cx="8734751" cy="2296327"/>
          </a:xfrm>
        </p:grpSpPr>
        <p:sp>
          <p:nvSpPr>
            <p:cNvPr id="10" name="Freeform 10"/>
            <p:cNvSpPr/>
            <p:nvPr/>
          </p:nvSpPr>
          <p:spPr>
            <a:xfrm>
              <a:off x="152192" y="122084"/>
              <a:ext cx="8312494" cy="2296327"/>
            </a:xfrm>
            <a:custGeom>
              <a:avLst/>
              <a:gdLst/>
              <a:ahLst/>
              <a:cxnLst/>
              <a:rect l="l" t="t" r="r" b="b"/>
              <a:pathLst>
                <a:path w="8312494" h="2296327">
                  <a:moveTo>
                    <a:pt x="0" y="0"/>
                  </a:moveTo>
                  <a:lnTo>
                    <a:pt x="8312494" y="0"/>
                  </a:lnTo>
                  <a:lnTo>
                    <a:pt x="8312494" y="2296327"/>
                  </a:lnTo>
                  <a:lnTo>
                    <a:pt x="0" y="229632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189463" y="893793"/>
              <a:ext cx="8697480" cy="1470488"/>
            </a:xfrm>
            <a:prstGeom prst="rect">
              <a:avLst/>
            </a:prstGeom>
          </p:spPr>
          <p:txBody>
            <a:bodyPr lIns="0" tIns="0" rIns="0" bIns="0" rtlCol="0" anchor="t">
              <a:spAutoFit/>
            </a:bodyPr>
            <a:lstStyle/>
            <a:p>
              <a:pPr algn="l">
                <a:lnSpc>
                  <a:spcPts val="4320"/>
                </a:lnSpc>
              </a:pPr>
              <a:r>
                <a:rPr lang="en-US" sz="3600" b="1" dirty="0">
                  <a:solidFill>
                    <a:srgbClr val="FF0000"/>
                  </a:solidFill>
                  <a:latin typeface="Verdana Bold" panose="020B0804030504040204"/>
                  <a:ea typeface="Verdana Bold" panose="020B0804030504040204"/>
                  <a:cs typeface="Verdana Bold" panose="020B0804030504040204"/>
                  <a:sym typeface="Verdana Bold" panose="020B0804030504040204"/>
                </a:rPr>
                <a:t>Dharshna U  231901008</a:t>
              </a:r>
            </a:p>
            <a:p>
              <a:pPr algn="l">
                <a:lnSpc>
                  <a:spcPts val="4320"/>
                </a:lnSpc>
              </a:pPr>
              <a:r>
                <a:rPr lang="en-US" sz="3600" b="1" dirty="0">
                  <a:solidFill>
                    <a:srgbClr val="FF0000"/>
                  </a:solidFill>
                  <a:latin typeface="Verdana Bold" panose="020B0804030504040204"/>
                  <a:ea typeface="Verdana Bold" panose="020B0804030504040204"/>
                  <a:cs typeface="Verdana Bold" panose="020B0804030504040204"/>
                  <a:sym typeface="Verdana Bold" panose="020B0804030504040204"/>
                </a:rPr>
                <a:t> </a:t>
              </a:r>
            </a:p>
          </p:txBody>
        </p:sp>
      </p:grpSp>
      <p:grpSp>
        <p:nvGrpSpPr>
          <p:cNvPr id="12" name="Group 12"/>
          <p:cNvGrpSpPr/>
          <p:nvPr/>
        </p:nvGrpSpPr>
        <p:grpSpPr>
          <a:xfrm>
            <a:off x="1028700" y="7625553"/>
            <a:ext cx="6234371" cy="1722245"/>
            <a:chOff x="0" y="0"/>
            <a:chExt cx="8312494" cy="2296327"/>
          </a:xfrm>
        </p:grpSpPr>
        <p:sp>
          <p:nvSpPr>
            <p:cNvPr id="13" name="Freeform 13"/>
            <p:cNvSpPr/>
            <p:nvPr/>
          </p:nvSpPr>
          <p:spPr>
            <a:xfrm>
              <a:off x="0" y="0"/>
              <a:ext cx="8312494" cy="2296327"/>
            </a:xfrm>
            <a:custGeom>
              <a:avLst/>
              <a:gdLst/>
              <a:ahLst/>
              <a:cxnLst/>
              <a:rect l="l" t="t" r="r" b="b"/>
              <a:pathLst>
                <a:path w="8312494" h="2296327">
                  <a:moveTo>
                    <a:pt x="0" y="0"/>
                  </a:moveTo>
                  <a:lnTo>
                    <a:pt x="8312494" y="0"/>
                  </a:lnTo>
                  <a:lnTo>
                    <a:pt x="8312494" y="2296327"/>
                  </a:lnTo>
                  <a:lnTo>
                    <a:pt x="0" y="229632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TextBox 14"/>
            <p:cNvSpPr txBox="1"/>
            <p:nvPr/>
          </p:nvSpPr>
          <p:spPr>
            <a:xfrm>
              <a:off x="676097" y="261366"/>
              <a:ext cx="6911160" cy="1447800"/>
            </a:xfrm>
            <a:prstGeom prst="rect">
              <a:avLst/>
            </a:prstGeom>
          </p:spPr>
          <p:txBody>
            <a:bodyPr lIns="0" tIns="0" rIns="0" bIns="0" rtlCol="0" anchor="t">
              <a:spAutoFit/>
            </a:bodyPr>
            <a:lstStyle/>
            <a:p>
              <a:pPr algn="l">
                <a:lnSpc>
                  <a:spcPts val="4320"/>
                </a:lnSpc>
              </a:pPr>
              <a:r>
                <a:rPr lang="en-US" sz="3600" b="1">
                  <a:solidFill>
                    <a:srgbClr val="FF0000"/>
                  </a:solidFill>
                  <a:latin typeface="Verdana Bold" panose="020B0804030504040204"/>
                  <a:ea typeface="Verdana Bold" panose="020B0804030504040204"/>
                  <a:cs typeface="Verdana Bold" panose="020B0804030504040204"/>
                  <a:sym typeface="Verdana Bold" panose="020B0804030504040204"/>
                </a:rPr>
                <a:t>Dr.Tamilselvi P</a:t>
              </a:r>
            </a:p>
            <a:p>
              <a:pPr algn="l">
                <a:lnSpc>
                  <a:spcPts val="4320"/>
                </a:lnSpc>
              </a:pPr>
              <a:r>
                <a:rPr lang="en-US" sz="3600" b="1">
                  <a:solidFill>
                    <a:srgbClr val="FF0000"/>
                  </a:solidFill>
                  <a:latin typeface="Verdana Bold" panose="020B0804030504040204"/>
                  <a:ea typeface="Verdana Bold" panose="020B0804030504040204"/>
                  <a:cs typeface="Verdana Bold" panose="020B0804030504040204"/>
                  <a:sym typeface="Verdana Bold" panose="020B0804030504040204"/>
                </a:rPr>
                <a:t>HOD and Professor</a:t>
              </a:r>
            </a:p>
          </p:txBody>
        </p:sp>
      </p:grpSp>
      <p:grpSp>
        <p:nvGrpSpPr>
          <p:cNvPr id="16" name="Group 16"/>
          <p:cNvGrpSpPr/>
          <p:nvPr/>
        </p:nvGrpSpPr>
        <p:grpSpPr>
          <a:xfrm>
            <a:off x="273652" y="4368312"/>
            <a:ext cx="18014348" cy="2504886"/>
            <a:chOff x="0" y="0"/>
            <a:chExt cx="24019130" cy="3339847"/>
          </a:xfrm>
        </p:grpSpPr>
        <p:sp>
          <p:nvSpPr>
            <p:cNvPr id="17" name="Freeform 17"/>
            <p:cNvSpPr/>
            <p:nvPr/>
          </p:nvSpPr>
          <p:spPr>
            <a:xfrm>
              <a:off x="0" y="0"/>
              <a:ext cx="24019131" cy="3339848"/>
            </a:xfrm>
            <a:custGeom>
              <a:avLst/>
              <a:gdLst/>
              <a:ahLst/>
              <a:cxnLst/>
              <a:rect l="l" t="t" r="r" b="b"/>
              <a:pathLst>
                <a:path w="24019131" h="3339848">
                  <a:moveTo>
                    <a:pt x="0" y="0"/>
                  </a:moveTo>
                  <a:lnTo>
                    <a:pt x="24019131" y="0"/>
                  </a:lnTo>
                  <a:lnTo>
                    <a:pt x="24019131" y="3339848"/>
                  </a:lnTo>
                  <a:lnTo>
                    <a:pt x="0" y="3339848"/>
                  </a:lnTo>
                  <a:close/>
                </a:path>
              </a:pathLst>
            </a:custGeom>
            <a:blipFill>
              <a:blip r:embed="rId7">
                <a:alphaModFix amt="0"/>
              </a:blip>
              <a:stretch>
                <a:fillRect t="-408390" b="-387769"/>
              </a:stretch>
            </a:blipFill>
          </p:spPr>
        </p:sp>
        <p:sp>
          <p:nvSpPr>
            <p:cNvPr id="18" name="TextBox 18"/>
            <p:cNvSpPr txBox="1"/>
            <p:nvPr/>
          </p:nvSpPr>
          <p:spPr>
            <a:xfrm>
              <a:off x="0" y="66675"/>
              <a:ext cx="24019130" cy="3273172"/>
            </a:xfrm>
            <a:prstGeom prst="rect">
              <a:avLst/>
            </a:prstGeom>
          </p:spPr>
          <p:txBody>
            <a:bodyPr lIns="0" tIns="0" rIns="0" bIns="0" rtlCol="0" anchor="ctr"/>
            <a:lstStyle/>
            <a:p>
              <a:pPr algn="ctr">
                <a:lnSpc>
                  <a:spcPts val="5725"/>
                </a:lnSpc>
              </a:pPr>
              <a:r>
                <a:rPr lang="en-US" sz="5400" b="1" dirty="0">
                  <a:solidFill>
                    <a:srgbClr val="7030A0"/>
                  </a:solidFill>
                </a:rPr>
                <a:t>QUANTUMSHIELD: QUANTUM-RESISTANT BLOCKCHAIN FRAMEWORK WITH AI-BASED THREAT DETECTION FOR ENTERPRISE IT ORGANIZATIONS </a:t>
              </a:r>
              <a:endParaRPr lang="en-US" sz="5300" b="1" dirty="0">
                <a:solidFill>
                  <a:srgbClr val="7030A0"/>
                </a:solidFill>
                <a:latin typeface="Verdana Bold" panose="020B0804030504040204"/>
                <a:ea typeface="Verdana Bold" panose="020B0804030504040204"/>
                <a:cs typeface="Verdana Bold" panose="020B0804030504040204"/>
                <a:sym typeface="Verdana Bold" panose="020B0804030504040204"/>
              </a:endParaRPr>
            </a:p>
          </p:txBody>
        </p:sp>
      </p:grpSp>
      <p:grpSp>
        <p:nvGrpSpPr>
          <p:cNvPr id="19" name="Group 19"/>
          <p:cNvGrpSpPr/>
          <p:nvPr/>
        </p:nvGrpSpPr>
        <p:grpSpPr>
          <a:xfrm>
            <a:off x="534585" y="3885241"/>
            <a:ext cx="15930562" cy="178594"/>
            <a:chOff x="0" y="0"/>
            <a:chExt cx="21240750" cy="238125"/>
          </a:xfrm>
        </p:grpSpPr>
        <p:sp>
          <p:nvSpPr>
            <p:cNvPr id="20" name="Freeform 20"/>
            <p:cNvSpPr/>
            <p:nvPr/>
          </p:nvSpPr>
          <p:spPr>
            <a:xfrm>
              <a:off x="0" y="0"/>
              <a:ext cx="12425807" cy="238125"/>
            </a:xfrm>
            <a:custGeom>
              <a:avLst/>
              <a:gdLst/>
              <a:ahLst/>
              <a:cxnLst/>
              <a:rect l="l" t="t" r="r" b="b"/>
              <a:pathLst>
                <a:path w="12425807" h="238125">
                  <a:moveTo>
                    <a:pt x="0" y="0"/>
                  </a:moveTo>
                  <a:lnTo>
                    <a:pt x="12425807" y="0"/>
                  </a:lnTo>
                  <a:lnTo>
                    <a:pt x="12425807" y="238125"/>
                  </a:lnTo>
                  <a:lnTo>
                    <a:pt x="0" y="238125"/>
                  </a:lnTo>
                  <a:lnTo>
                    <a:pt x="0" y="0"/>
                  </a:lnTo>
                  <a:close/>
                </a:path>
              </a:pathLst>
            </a:custGeom>
            <a:solidFill>
              <a:srgbClr val="CC0000"/>
            </a:solidFill>
            <a:ln w="14288" cap="sq">
              <a:solidFill>
                <a:srgbClr val="CC0000"/>
              </a:solidFill>
              <a:prstDash val="solid"/>
              <a:miter/>
            </a:ln>
          </p:spPr>
        </p:sp>
        <p:sp>
          <p:nvSpPr>
            <p:cNvPr id="21" name="Freeform 21"/>
            <p:cNvSpPr/>
            <p:nvPr/>
          </p:nvSpPr>
          <p:spPr>
            <a:xfrm>
              <a:off x="0" y="0"/>
              <a:ext cx="21240750" cy="0"/>
            </a:xfrm>
            <a:custGeom>
              <a:avLst/>
              <a:gdLst/>
              <a:ahLst/>
              <a:cxnLst/>
              <a:rect l="l" t="t" r="r" b="b"/>
              <a:pathLst>
                <a:path w="21240750">
                  <a:moveTo>
                    <a:pt x="0" y="0"/>
                  </a:moveTo>
                  <a:lnTo>
                    <a:pt x="21240750" y="0"/>
                  </a:lnTo>
                </a:path>
              </a:pathLst>
            </a:custGeom>
            <a:solidFill>
              <a:srgbClr val="CC0000"/>
            </a:solidFill>
            <a:ln w="14288" cap="sq">
              <a:solidFill>
                <a:srgbClr val="CC0000"/>
              </a:solidFill>
              <a:prstDash val="solid"/>
              <a:miter/>
            </a:ln>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dirty="0"/>
          </a:p>
        </p:txBody>
      </p:sp>
      <p:grpSp>
        <p:nvGrpSpPr>
          <p:cNvPr id="3" name="Group 3"/>
          <p:cNvGrpSpPr/>
          <p:nvPr/>
        </p:nvGrpSpPr>
        <p:grpSpPr>
          <a:xfrm>
            <a:off x="1212056" y="2343150"/>
            <a:ext cx="15930562" cy="178594"/>
            <a:chOff x="0" y="0"/>
            <a:chExt cx="21240750" cy="238125"/>
          </a:xfrm>
        </p:grpSpPr>
        <p:sp>
          <p:nvSpPr>
            <p:cNvPr id="4" name="Freeform 4"/>
            <p:cNvSpPr/>
            <p:nvPr/>
          </p:nvSpPr>
          <p:spPr>
            <a:xfrm>
              <a:off x="0" y="0"/>
              <a:ext cx="12425807" cy="238125"/>
            </a:xfrm>
            <a:custGeom>
              <a:avLst/>
              <a:gdLst/>
              <a:ahLst/>
              <a:cxnLst/>
              <a:rect l="l" t="t" r="r" b="b"/>
              <a:pathLst>
                <a:path w="12425807" h="238125">
                  <a:moveTo>
                    <a:pt x="0" y="0"/>
                  </a:moveTo>
                  <a:lnTo>
                    <a:pt x="12425807" y="0"/>
                  </a:lnTo>
                  <a:lnTo>
                    <a:pt x="12425807" y="238125"/>
                  </a:lnTo>
                  <a:lnTo>
                    <a:pt x="0" y="238125"/>
                  </a:lnTo>
                  <a:lnTo>
                    <a:pt x="0" y="0"/>
                  </a:lnTo>
                  <a:close/>
                </a:path>
              </a:pathLst>
            </a:custGeom>
            <a:solidFill>
              <a:srgbClr val="CC0000"/>
            </a:solidFill>
            <a:ln w="14288" cap="sq">
              <a:solidFill>
                <a:srgbClr val="CC0000"/>
              </a:solidFill>
              <a:prstDash val="solid"/>
              <a:miter/>
            </a:ln>
          </p:spPr>
        </p:sp>
        <p:sp>
          <p:nvSpPr>
            <p:cNvPr id="5" name="Freeform 5"/>
            <p:cNvSpPr/>
            <p:nvPr/>
          </p:nvSpPr>
          <p:spPr>
            <a:xfrm>
              <a:off x="0" y="0"/>
              <a:ext cx="21240750" cy="0"/>
            </a:xfrm>
            <a:custGeom>
              <a:avLst/>
              <a:gdLst/>
              <a:ahLst/>
              <a:cxnLst/>
              <a:rect l="l" t="t" r="r" b="b"/>
              <a:pathLst>
                <a:path w="21240750">
                  <a:moveTo>
                    <a:pt x="0" y="0"/>
                  </a:moveTo>
                  <a:lnTo>
                    <a:pt x="21240750" y="0"/>
                  </a:lnTo>
                </a:path>
              </a:pathLst>
            </a:custGeom>
            <a:solidFill>
              <a:srgbClr val="CC0000"/>
            </a:solidFill>
            <a:ln w="14288" cap="sq">
              <a:solidFill>
                <a:srgbClr val="CC0000"/>
              </a:solidFill>
              <a:prstDash val="solid"/>
              <a:miter/>
            </a:ln>
          </p:spPr>
        </p:sp>
      </p:grpSp>
      <p:sp>
        <p:nvSpPr>
          <p:cNvPr id="6" name="AutoShape 6"/>
          <p:cNvSpPr/>
          <p:nvPr/>
        </p:nvSpPr>
        <p:spPr>
          <a:xfrm rot="-1020">
            <a:off x="1216819" y="9253538"/>
            <a:ext cx="15854362" cy="0"/>
          </a:xfrm>
          <a:prstGeom prst="line">
            <a:avLst/>
          </a:prstGeom>
          <a:ln w="9525" cap="rnd">
            <a:solidFill>
              <a:srgbClr val="CC0000"/>
            </a:solidFill>
            <a:prstDash val="solid"/>
            <a:headEnd type="none" w="sm" len="sm"/>
            <a:tailEnd type="none" w="sm" len="sm"/>
          </a:ln>
        </p:spPr>
      </p:sp>
      <p:grpSp>
        <p:nvGrpSpPr>
          <p:cNvPr id="7" name="Group 7"/>
          <p:cNvGrpSpPr/>
          <p:nvPr/>
        </p:nvGrpSpPr>
        <p:grpSpPr>
          <a:xfrm>
            <a:off x="1149353" y="457200"/>
            <a:ext cx="16002000" cy="1824038"/>
            <a:chOff x="0" y="0"/>
            <a:chExt cx="21336000" cy="2432050"/>
          </a:xfrm>
        </p:grpSpPr>
        <p:sp>
          <p:nvSpPr>
            <p:cNvPr id="8" name="Freeform 8"/>
            <p:cNvSpPr/>
            <p:nvPr/>
          </p:nvSpPr>
          <p:spPr>
            <a:xfrm>
              <a:off x="0" y="0"/>
              <a:ext cx="21336000" cy="2432050"/>
            </a:xfrm>
            <a:custGeom>
              <a:avLst/>
              <a:gdLst/>
              <a:ahLst/>
              <a:cxnLst/>
              <a:rect l="l" t="t" r="r" b="b"/>
              <a:pathLst>
                <a:path w="21336000" h="2432050">
                  <a:moveTo>
                    <a:pt x="0" y="0"/>
                  </a:moveTo>
                  <a:lnTo>
                    <a:pt x="21336000" y="0"/>
                  </a:lnTo>
                  <a:lnTo>
                    <a:pt x="21336000" y="2432050"/>
                  </a:lnTo>
                  <a:lnTo>
                    <a:pt x="0" y="2432050"/>
                  </a:lnTo>
                  <a:close/>
                </a:path>
              </a:pathLst>
            </a:custGeom>
            <a:blipFill>
              <a:blip r:embed="rId3">
                <a:alphaModFix amt="0"/>
              </a:blip>
              <a:stretch>
                <a:fillRect t="-120939" b="-120939"/>
              </a:stretch>
            </a:blipFill>
          </p:spPr>
        </p:sp>
        <p:sp>
          <p:nvSpPr>
            <p:cNvPr id="9" name="TextBox 9"/>
            <p:cNvSpPr txBox="1"/>
            <p:nvPr/>
          </p:nvSpPr>
          <p:spPr>
            <a:xfrm>
              <a:off x="0" y="9525"/>
              <a:ext cx="21336000" cy="2422525"/>
            </a:xfrm>
            <a:prstGeom prst="rect">
              <a:avLst/>
            </a:prstGeom>
          </p:spPr>
          <p:txBody>
            <a:bodyPr lIns="0" tIns="0" rIns="0" bIns="0" rtlCol="0" anchor="b"/>
            <a:lstStyle/>
            <a:p>
              <a:pPr algn="l">
                <a:lnSpc>
                  <a:spcPts val="5760"/>
                </a:lnSpc>
              </a:pPr>
              <a:r>
                <a:rPr lang="en-US" sz="4800" b="1">
                  <a:solidFill>
                    <a:srgbClr val="FF0000"/>
                  </a:solidFill>
                  <a:latin typeface="Verdana Bold" panose="020B0804030504040204"/>
                  <a:ea typeface="Verdana Bold" panose="020B0804030504040204"/>
                  <a:cs typeface="Verdana Bold" panose="020B0804030504040204"/>
                  <a:sym typeface="Verdana Bold" panose="020B0804030504040204"/>
                </a:rPr>
                <a:t>Problem Statement and Motivation</a:t>
              </a:r>
            </a:p>
          </p:txBody>
        </p:sp>
      </p:grpSp>
      <p:grpSp>
        <p:nvGrpSpPr>
          <p:cNvPr id="10" name="Group 10"/>
          <p:cNvGrpSpPr/>
          <p:nvPr/>
        </p:nvGrpSpPr>
        <p:grpSpPr>
          <a:xfrm>
            <a:off x="1212056" y="2343150"/>
            <a:ext cx="15930562" cy="178594"/>
            <a:chOff x="0" y="0"/>
            <a:chExt cx="21240750" cy="238125"/>
          </a:xfrm>
        </p:grpSpPr>
        <p:sp>
          <p:nvSpPr>
            <p:cNvPr id="11" name="Freeform 11"/>
            <p:cNvSpPr/>
            <p:nvPr/>
          </p:nvSpPr>
          <p:spPr>
            <a:xfrm>
              <a:off x="0" y="0"/>
              <a:ext cx="12425807" cy="238125"/>
            </a:xfrm>
            <a:custGeom>
              <a:avLst/>
              <a:gdLst/>
              <a:ahLst/>
              <a:cxnLst/>
              <a:rect l="l" t="t" r="r" b="b"/>
              <a:pathLst>
                <a:path w="12425807" h="238125">
                  <a:moveTo>
                    <a:pt x="0" y="0"/>
                  </a:moveTo>
                  <a:lnTo>
                    <a:pt x="12425807" y="0"/>
                  </a:lnTo>
                  <a:lnTo>
                    <a:pt x="12425807" y="238125"/>
                  </a:lnTo>
                  <a:lnTo>
                    <a:pt x="0" y="238125"/>
                  </a:lnTo>
                  <a:lnTo>
                    <a:pt x="0" y="0"/>
                  </a:lnTo>
                  <a:close/>
                </a:path>
              </a:pathLst>
            </a:custGeom>
            <a:solidFill>
              <a:srgbClr val="CC0000"/>
            </a:solidFill>
            <a:ln w="14288" cap="sq">
              <a:solidFill>
                <a:srgbClr val="CC0000"/>
              </a:solidFill>
              <a:prstDash val="solid"/>
              <a:miter/>
            </a:ln>
          </p:spPr>
        </p:sp>
        <p:sp>
          <p:nvSpPr>
            <p:cNvPr id="12" name="Freeform 12"/>
            <p:cNvSpPr/>
            <p:nvPr/>
          </p:nvSpPr>
          <p:spPr>
            <a:xfrm>
              <a:off x="0" y="0"/>
              <a:ext cx="21240750" cy="0"/>
            </a:xfrm>
            <a:custGeom>
              <a:avLst/>
              <a:gdLst/>
              <a:ahLst/>
              <a:cxnLst/>
              <a:rect l="l" t="t" r="r" b="b"/>
              <a:pathLst>
                <a:path w="21240750">
                  <a:moveTo>
                    <a:pt x="0" y="0"/>
                  </a:moveTo>
                  <a:lnTo>
                    <a:pt x="21240750" y="0"/>
                  </a:lnTo>
                </a:path>
              </a:pathLst>
            </a:custGeom>
            <a:solidFill>
              <a:srgbClr val="CC0000"/>
            </a:solidFill>
            <a:ln w="14288" cap="sq">
              <a:solidFill>
                <a:srgbClr val="CC0000"/>
              </a:solidFill>
              <a:prstDash val="solid"/>
              <a:miter/>
            </a:ln>
          </p:spPr>
        </p:sp>
      </p:grpSp>
      <p:grpSp>
        <p:nvGrpSpPr>
          <p:cNvPr id="13" name="Group 13"/>
          <p:cNvGrpSpPr/>
          <p:nvPr/>
        </p:nvGrpSpPr>
        <p:grpSpPr>
          <a:xfrm>
            <a:off x="1216819" y="9255919"/>
            <a:ext cx="15854362" cy="4762"/>
            <a:chOff x="0" y="0"/>
            <a:chExt cx="21139150" cy="6350"/>
          </a:xfrm>
        </p:grpSpPr>
        <p:sp>
          <p:nvSpPr>
            <p:cNvPr id="14" name="Freeform 14"/>
            <p:cNvSpPr/>
            <p:nvPr/>
          </p:nvSpPr>
          <p:spPr>
            <a:xfrm>
              <a:off x="0" y="0"/>
              <a:ext cx="21139150" cy="6350"/>
            </a:xfrm>
            <a:custGeom>
              <a:avLst/>
              <a:gdLst/>
              <a:ahLst/>
              <a:cxnLst/>
              <a:rect l="l" t="t" r="r" b="b"/>
              <a:pathLst>
                <a:path w="21139150" h="6350">
                  <a:moveTo>
                    <a:pt x="0" y="6350"/>
                  </a:moveTo>
                  <a:lnTo>
                    <a:pt x="21139150" y="0"/>
                  </a:lnTo>
                </a:path>
              </a:pathLst>
            </a:custGeom>
            <a:blipFill>
              <a:blip r:embed="rId3">
                <a:alphaModFix amt="0"/>
              </a:blip>
              <a:stretch>
                <a:fillRect t="-64815692" b="-64815692"/>
              </a:stretch>
            </a:blipFill>
            <a:ln w="4762" cap="sq">
              <a:solidFill>
                <a:srgbClr val="CC0000"/>
              </a:solidFill>
              <a:prstDash val="solid"/>
              <a:miter/>
            </a:ln>
          </p:spPr>
        </p:sp>
      </p:grpSp>
      <p:grpSp>
        <p:nvGrpSpPr>
          <p:cNvPr id="15" name="Group 15"/>
          <p:cNvGrpSpPr/>
          <p:nvPr/>
        </p:nvGrpSpPr>
        <p:grpSpPr>
          <a:xfrm>
            <a:off x="1149353" y="457200"/>
            <a:ext cx="16002000" cy="1824038"/>
            <a:chOff x="0" y="0"/>
            <a:chExt cx="21336000" cy="2432050"/>
          </a:xfrm>
        </p:grpSpPr>
        <p:sp>
          <p:nvSpPr>
            <p:cNvPr id="16" name="Freeform 16"/>
            <p:cNvSpPr/>
            <p:nvPr/>
          </p:nvSpPr>
          <p:spPr>
            <a:xfrm>
              <a:off x="0" y="0"/>
              <a:ext cx="21336000" cy="2432050"/>
            </a:xfrm>
            <a:custGeom>
              <a:avLst/>
              <a:gdLst/>
              <a:ahLst/>
              <a:cxnLst/>
              <a:rect l="l" t="t" r="r" b="b"/>
              <a:pathLst>
                <a:path w="21336000" h="2432050">
                  <a:moveTo>
                    <a:pt x="0" y="0"/>
                  </a:moveTo>
                  <a:lnTo>
                    <a:pt x="21336000" y="0"/>
                  </a:lnTo>
                  <a:lnTo>
                    <a:pt x="21336000" y="2432050"/>
                  </a:lnTo>
                  <a:lnTo>
                    <a:pt x="0" y="2432050"/>
                  </a:lnTo>
                  <a:close/>
                </a:path>
              </a:pathLst>
            </a:custGeom>
            <a:blipFill>
              <a:blip r:embed="rId3">
                <a:alphaModFix amt="0"/>
              </a:blip>
              <a:stretch>
                <a:fillRect t="-120939" b="-120939"/>
              </a:stretch>
            </a:blipFill>
          </p:spPr>
        </p:sp>
        <p:sp>
          <p:nvSpPr>
            <p:cNvPr id="17" name="TextBox 17"/>
            <p:cNvSpPr txBox="1"/>
            <p:nvPr/>
          </p:nvSpPr>
          <p:spPr>
            <a:xfrm>
              <a:off x="0" y="9525"/>
              <a:ext cx="21336000" cy="2422525"/>
            </a:xfrm>
            <a:prstGeom prst="rect">
              <a:avLst/>
            </a:prstGeom>
          </p:spPr>
          <p:txBody>
            <a:bodyPr lIns="0" tIns="0" rIns="0" bIns="0" rtlCol="0" anchor="b"/>
            <a:lstStyle/>
            <a:p>
              <a:pPr algn="l">
                <a:lnSpc>
                  <a:spcPts val="5760"/>
                </a:lnSpc>
              </a:pPr>
              <a:r>
                <a:rPr lang="en-US" sz="4800" b="1">
                  <a:solidFill>
                    <a:srgbClr val="FF0000"/>
                  </a:solidFill>
                  <a:latin typeface="Verdana Bold" panose="020B0804030504040204"/>
                  <a:ea typeface="Verdana Bold" panose="020B0804030504040204"/>
                  <a:cs typeface="Verdana Bold" panose="020B0804030504040204"/>
                  <a:sym typeface="Verdana Bold" panose="020B0804030504040204"/>
                </a:rPr>
                <a:t>Problem Statement and Motivation</a:t>
              </a:r>
            </a:p>
          </p:txBody>
        </p:sp>
      </p:grpSp>
      <p:sp>
        <p:nvSpPr>
          <p:cNvPr id="19" name="TextBox 19"/>
          <p:cNvSpPr txBox="1"/>
          <p:nvPr/>
        </p:nvSpPr>
        <p:spPr>
          <a:xfrm>
            <a:off x="13197840" y="9413557"/>
            <a:ext cx="3779520" cy="622935"/>
          </a:xfrm>
          <a:prstGeom prst="rect">
            <a:avLst/>
          </a:prstGeom>
        </p:spPr>
        <p:txBody>
          <a:bodyPr lIns="0" tIns="0" rIns="0" bIns="0" rtlCol="0" anchor="t">
            <a:spAutoFit/>
          </a:bodyPr>
          <a:lstStyle/>
          <a:p>
            <a:pPr algn="r">
              <a:lnSpc>
                <a:spcPts val="2160"/>
              </a:lnSpc>
            </a:pPr>
            <a:r>
              <a:rPr lang="en-US" sz="1800">
                <a:solidFill>
                  <a:srgbClr val="000000"/>
                </a:solidFill>
                <a:latin typeface="Verdana" panose="020B0604030504040204"/>
                <a:ea typeface="Verdana" panose="020B0604030504040204"/>
                <a:cs typeface="Verdana" panose="020B0604030504040204"/>
                <a:sym typeface="Verdana" panose="020B0604030504040204"/>
              </a:rPr>
              <a:t>2</a:t>
            </a:r>
          </a:p>
        </p:txBody>
      </p:sp>
      <p:sp>
        <p:nvSpPr>
          <p:cNvPr id="20" name="TextBox 20"/>
          <p:cNvSpPr txBox="1"/>
          <p:nvPr/>
        </p:nvSpPr>
        <p:spPr>
          <a:xfrm>
            <a:off x="1295400" y="3549650"/>
            <a:ext cx="16230600" cy="1828386"/>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Modern enterprise IT environments generate large volumes of security events from applications, containers and Kubernetes infrastructure. Traditional monitoring often requires manual analysis and separate tools for detection, cryptographic protection, auditing and response.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Existing systems may also rely on conventional cryptography that faces long-term risks from quantum computing.</a:t>
            </a:r>
          </a:p>
          <a:p>
            <a:pPr algn="just">
              <a:lnSpc>
                <a:spcPts val="2880"/>
              </a:lnSpc>
              <a:spcBef>
                <a:spcPct val="0"/>
              </a:spcBef>
            </a:pPr>
            <a:endParaRPr lang="en-US" sz="2400"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22" name="TextBox 22"/>
          <p:cNvSpPr txBox="1"/>
          <p:nvPr/>
        </p:nvSpPr>
        <p:spPr>
          <a:xfrm>
            <a:off x="76200" y="3009900"/>
            <a:ext cx="6210935" cy="356870"/>
          </a:xfrm>
          <a:prstGeom prst="rect">
            <a:avLst/>
          </a:prstGeom>
        </p:spPr>
        <p:txBody>
          <a:bodyPr lIns="0" tIns="0" rIns="0" bIns="0" rtlCol="0" anchor="t">
            <a:noAutofit/>
          </a:bodyPr>
          <a:lstStyle/>
          <a:p>
            <a:pPr algn="ctr">
              <a:lnSpc>
                <a:spcPts val="3310"/>
              </a:lnSpc>
              <a:spcBef>
                <a:spcPct val="0"/>
              </a:spcBef>
            </a:pPr>
            <a:r>
              <a:rPr lang="en-US" sz="2760" b="1">
                <a:solidFill>
                  <a:srgbClr val="7030A0"/>
                </a:solidFill>
                <a:latin typeface="Verdana Bold" panose="020B0804030504040204"/>
                <a:ea typeface="Verdana Bold" panose="020B0804030504040204"/>
                <a:cs typeface="Verdana Bold" panose="020B0804030504040204"/>
                <a:sym typeface="Verdana Bold" panose="020B0804030504040204"/>
              </a:rPr>
              <a:t>Problem Statement</a:t>
            </a:r>
          </a:p>
        </p:txBody>
      </p:sp>
      <p:sp>
        <p:nvSpPr>
          <p:cNvPr id="23" name="TextBox 23"/>
          <p:cNvSpPr txBox="1"/>
          <p:nvPr/>
        </p:nvSpPr>
        <p:spPr>
          <a:xfrm>
            <a:off x="762000" y="5627687"/>
            <a:ext cx="3312160" cy="530227"/>
          </a:xfrm>
          <a:prstGeom prst="rect">
            <a:avLst/>
          </a:prstGeom>
        </p:spPr>
        <p:txBody>
          <a:bodyPr lIns="0" tIns="0" rIns="0" bIns="0" rtlCol="0" anchor="t">
            <a:noAutofit/>
          </a:bodyPr>
          <a:lstStyle/>
          <a:p>
            <a:pPr algn="ctr">
              <a:lnSpc>
                <a:spcPts val="3310"/>
              </a:lnSpc>
              <a:spcBef>
                <a:spcPct val="0"/>
              </a:spcBef>
            </a:pPr>
            <a:r>
              <a:rPr lang="en-US" sz="2760" b="1" dirty="0">
                <a:solidFill>
                  <a:srgbClr val="7030A0"/>
                </a:solidFill>
                <a:latin typeface="Verdana Bold" panose="020B0804030504040204"/>
                <a:ea typeface="Verdana Bold" panose="020B0804030504040204"/>
                <a:cs typeface="Verdana Bold" panose="020B0804030504040204"/>
                <a:sym typeface="Verdana Bold" panose="020B0804030504040204"/>
              </a:rPr>
              <a:t>Motivation</a:t>
            </a:r>
          </a:p>
        </p:txBody>
      </p:sp>
      <p:sp>
        <p:nvSpPr>
          <p:cNvPr id="28" name="TextBox 27">
            <a:extLst>
              <a:ext uri="{FF2B5EF4-FFF2-40B4-BE49-F238E27FC236}">
                <a16:creationId xmlns:a16="http://schemas.microsoft.com/office/drawing/2014/main" id="{4A6BDD5B-382B-5ED6-821D-9A43D3C91864}"/>
              </a:ext>
            </a:extLst>
          </p:cNvPr>
          <p:cNvSpPr txBox="1"/>
          <p:nvPr/>
        </p:nvSpPr>
        <p:spPr>
          <a:xfrm>
            <a:off x="2895600" y="6440754"/>
            <a:ext cx="15681960" cy="2646878"/>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Need for </a:t>
            </a:r>
            <a:r>
              <a:rPr lang="en-US" sz="2400" b="1" dirty="0">
                <a:latin typeface="Times New Roman" panose="02020603050405020304" pitchFamily="18" charset="0"/>
                <a:cs typeface="Times New Roman" panose="02020603050405020304" pitchFamily="18" charset="0"/>
              </a:rPr>
              <a:t>AI-assisted security incident analysis</a:t>
            </a:r>
            <a:r>
              <a:rPr lang="en-US" sz="2400" dirty="0">
                <a:latin typeface="Times New Roman" panose="02020603050405020304" pitchFamily="18" charset="0"/>
                <a:cs typeface="Times New Roman" panose="02020603050405020304" pitchFamily="18" charset="0"/>
              </a:rPr>
              <a:t>.</a:t>
            </a: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Need to secure modern </a:t>
            </a:r>
            <a:r>
              <a:rPr lang="en-US" altLang="en-US" sz="2400" b="1" dirty="0">
                <a:latin typeface="Times New Roman" panose="02020603050405020304" pitchFamily="18" charset="0"/>
                <a:cs typeface="Times New Roman" panose="02020603050405020304" pitchFamily="18" charset="0"/>
              </a:rPr>
              <a:t>Kubernetes-based environments</a:t>
            </a:r>
            <a:r>
              <a:rPr lang="en-US" altLang="en-US" sz="2400" dirty="0">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Need for </a:t>
            </a:r>
            <a:r>
              <a:rPr lang="en-US" altLang="en-US" sz="2400" b="1" dirty="0">
                <a:latin typeface="Times New Roman" panose="02020603050405020304" pitchFamily="18" charset="0"/>
                <a:cs typeface="Times New Roman" panose="02020603050405020304" pitchFamily="18" charset="0"/>
              </a:rPr>
              <a:t>post-quantum cryptographic protection</a:t>
            </a:r>
            <a:r>
              <a:rPr lang="en-US" altLang="en-US" sz="2400" dirty="0">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Need for </a:t>
            </a:r>
            <a:r>
              <a:rPr lang="en-US" altLang="en-US" sz="2400" b="1" dirty="0">
                <a:latin typeface="Times New Roman" panose="02020603050405020304" pitchFamily="18" charset="0"/>
                <a:cs typeface="Times New Roman" panose="02020603050405020304" pitchFamily="18" charset="0"/>
              </a:rPr>
              <a:t>tamper-evident security auditing</a:t>
            </a:r>
            <a:r>
              <a:rPr lang="en-US" altLang="en-US" sz="2400" dirty="0">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Need for </a:t>
            </a:r>
            <a:r>
              <a:rPr lang="en-US" altLang="en-US" sz="2400" b="1" dirty="0">
                <a:latin typeface="Times New Roman" panose="02020603050405020304" pitchFamily="18" charset="0"/>
                <a:cs typeface="Times New Roman" panose="02020603050405020304" pitchFamily="18" charset="0"/>
              </a:rPr>
              <a:t>controlled response with human approval</a:t>
            </a:r>
            <a:r>
              <a:rPr lang="en-US" altLang="en-US" sz="24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6808"/>
            <a:ext cx="17838295" cy="10287000"/>
          </a:xfrm>
          <a:custGeom>
            <a:avLst/>
            <a:gdLst/>
            <a:ahLst/>
            <a:cxnLst/>
            <a:rect l="l" t="t" r="r" b="b"/>
            <a:pathLst>
              <a:path w="17838295" h="10287000">
                <a:moveTo>
                  <a:pt x="0" y="0"/>
                </a:moveTo>
                <a:lnTo>
                  <a:pt x="17838295" y="0"/>
                </a:lnTo>
                <a:lnTo>
                  <a:pt x="17838295" y="10287000"/>
                </a:lnTo>
                <a:lnTo>
                  <a:pt x="0" y="10287000"/>
                </a:lnTo>
                <a:lnTo>
                  <a:pt x="0" y="0"/>
                </a:lnTo>
                <a:close/>
              </a:path>
            </a:pathLst>
          </a:custGeom>
          <a:blipFill>
            <a:blip r:embed="rId2"/>
            <a:stretch>
              <a:fillRect r="-2521"/>
            </a:stretch>
          </a:blipFill>
        </p:spPr>
        <p:txBody>
          <a:bodyPr/>
          <a:lstStyle/>
          <a:p>
            <a:endParaRPr lang="en-US" dirty="0"/>
          </a:p>
        </p:txBody>
      </p:sp>
      <p:grpSp>
        <p:nvGrpSpPr>
          <p:cNvPr id="3" name="Group 3"/>
          <p:cNvGrpSpPr/>
          <p:nvPr/>
        </p:nvGrpSpPr>
        <p:grpSpPr>
          <a:xfrm>
            <a:off x="1212056" y="2343150"/>
            <a:ext cx="15930562" cy="178594"/>
            <a:chOff x="0" y="0"/>
            <a:chExt cx="21240750" cy="238125"/>
          </a:xfrm>
        </p:grpSpPr>
        <p:sp>
          <p:nvSpPr>
            <p:cNvPr id="4" name="Freeform 4"/>
            <p:cNvSpPr/>
            <p:nvPr/>
          </p:nvSpPr>
          <p:spPr>
            <a:xfrm>
              <a:off x="0" y="0"/>
              <a:ext cx="12425807" cy="238125"/>
            </a:xfrm>
            <a:custGeom>
              <a:avLst/>
              <a:gdLst/>
              <a:ahLst/>
              <a:cxnLst/>
              <a:rect l="l" t="t" r="r" b="b"/>
              <a:pathLst>
                <a:path w="12425807" h="238125">
                  <a:moveTo>
                    <a:pt x="0" y="0"/>
                  </a:moveTo>
                  <a:lnTo>
                    <a:pt x="12425807" y="0"/>
                  </a:lnTo>
                  <a:lnTo>
                    <a:pt x="12425807" y="238125"/>
                  </a:lnTo>
                  <a:lnTo>
                    <a:pt x="0" y="238125"/>
                  </a:lnTo>
                  <a:lnTo>
                    <a:pt x="0" y="0"/>
                  </a:lnTo>
                  <a:close/>
                </a:path>
              </a:pathLst>
            </a:custGeom>
            <a:solidFill>
              <a:srgbClr val="CC0000"/>
            </a:solidFill>
            <a:ln w="14288" cap="sq">
              <a:solidFill>
                <a:srgbClr val="CC0000"/>
              </a:solidFill>
              <a:prstDash val="solid"/>
              <a:miter/>
            </a:ln>
          </p:spPr>
        </p:sp>
        <p:sp>
          <p:nvSpPr>
            <p:cNvPr id="5" name="Freeform 5"/>
            <p:cNvSpPr/>
            <p:nvPr/>
          </p:nvSpPr>
          <p:spPr>
            <a:xfrm>
              <a:off x="0" y="0"/>
              <a:ext cx="21240750" cy="0"/>
            </a:xfrm>
            <a:custGeom>
              <a:avLst/>
              <a:gdLst/>
              <a:ahLst/>
              <a:cxnLst/>
              <a:rect l="l" t="t" r="r" b="b"/>
              <a:pathLst>
                <a:path w="21240750">
                  <a:moveTo>
                    <a:pt x="0" y="0"/>
                  </a:moveTo>
                  <a:lnTo>
                    <a:pt x="21240750" y="0"/>
                  </a:lnTo>
                </a:path>
              </a:pathLst>
            </a:custGeom>
            <a:solidFill>
              <a:srgbClr val="CC0000"/>
            </a:solidFill>
            <a:ln w="14288" cap="sq">
              <a:solidFill>
                <a:srgbClr val="CC0000"/>
              </a:solidFill>
              <a:prstDash val="solid"/>
              <a:miter/>
            </a:ln>
          </p:spPr>
        </p:sp>
      </p:grpSp>
      <p:sp>
        <p:nvSpPr>
          <p:cNvPr id="6" name="AutoShape 6"/>
          <p:cNvSpPr/>
          <p:nvPr/>
        </p:nvSpPr>
        <p:spPr>
          <a:xfrm rot="-1020">
            <a:off x="1216819" y="9253538"/>
            <a:ext cx="15854362" cy="0"/>
          </a:xfrm>
          <a:prstGeom prst="line">
            <a:avLst/>
          </a:prstGeom>
          <a:ln w="9525" cap="rnd">
            <a:solidFill>
              <a:srgbClr val="CC0000"/>
            </a:solidFill>
            <a:prstDash val="solid"/>
            <a:headEnd type="none" w="sm" len="sm"/>
            <a:tailEnd type="none" w="sm" len="sm"/>
          </a:ln>
        </p:spPr>
      </p:sp>
      <p:grpSp>
        <p:nvGrpSpPr>
          <p:cNvPr id="7" name="Group 7"/>
          <p:cNvGrpSpPr/>
          <p:nvPr/>
        </p:nvGrpSpPr>
        <p:grpSpPr>
          <a:xfrm>
            <a:off x="1149353" y="457200"/>
            <a:ext cx="16002000" cy="1824038"/>
            <a:chOff x="0" y="0"/>
            <a:chExt cx="21336000" cy="2432050"/>
          </a:xfrm>
        </p:grpSpPr>
        <p:sp>
          <p:nvSpPr>
            <p:cNvPr id="8" name="Freeform 8"/>
            <p:cNvSpPr/>
            <p:nvPr/>
          </p:nvSpPr>
          <p:spPr>
            <a:xfrm>
              <a:off x="0" y="0"/>
              <a:ext cx="21336000" cy="2432050"/>
            </a:xfrm>
            <a:custGeom>
              <a:avLst/>
              <a:gdLst/>
              <a:ahLst/>
              <a:cxnLst/>
              <a:rect l="l" t="t" r="r" b="b"/>
              <a:pathLst>
                <a:path w="21336000" h="2432050">
                  <a:moveTo>
                    <a:pt x="0" y="0"/>
                  </a:moveTo>
                  <a:lnTo>
                    <a:pt x="21336000" y="0"/>
                  </a:lnTo>
                  <a:lnTo>
                    <a:pt x="21336000" y="2432050"/>
                  </a:lnTo>
                  <a:lnTo>
                    <a:pt x="0" y="2432050"/>
                  </a:lnTo>
                  <a:close/>
                </a:path>
              </a:pathLst>
            </a:custGeom>
            <a:blipFill>
              <a:blip r:embed="rId3">
                <a:alphaModFix amt="0"/>
              </a:blip>
              <a:stretch>
                <a:fillRect t="-120939" b="-120939"/>
              </a:stretch>
            </a:blipFill>
          </p:spPr>
        </p:sp>
        <p:sp>
          <p:nvSpPr>
            <p:cNvPr id="9" name="TextBox 9"/>
            <p:cNvSpPr txBox="1"/>
            <p:nvPr/>
          </p:nvSpPr>
          <p:spPr>
            <a:xfrm>
              <a:off x="0" y="9525"/>
              <a:ext cx="21336000" cy="2422525"/>
            </a:xfrm>
            <a:prstGeom prst="rect">
              <a:avLst/>
            </a:prstGeom>
          </p:spPr>
          <p:txBody>
            <a:bodyPr lIns="0" tIns="0" rIns="0" bIns="0" rtlCol="0" anchor="b"/>
            <a:lstStyle/>
            <a:p>
              <a:pPr algn="l">
                <a:lnSpc>
                  <a:spcPts val="5760"/>
                </a:lnSpc>
              </a:pPr>
              <a:r>
                <a:rPr lang="en-US" sz="4800" b="1">
                  <a:solidFill>
                    <a:srgbClr val="FF0000"/>
                  </a:solidFill>
                  <a:latin typeface="Verdana Bold" panose="020B0804030504040204"/>
                  <a:ea typeface="Verdana Bold" panose="020B0804030504040204"/>
                  <a:cs typeface="Verdana Bold" panose="020B0804030504040204"/>
                  <a:sym typeface="Verdana Bold" panose="020B0804030504040204"/>
                </a:rPr>
                <a:t>Objectives</a:t>
              </a:r>
            </a:p>
          </p:txBody>
        </p:sp>
      </p:grpSp>
      <p:sp>
        <p:nvSpPr>
          <p:cNvPr id="10" name="TextBox 10"/>
          <p:cNvSpPr txBox="1"/>
          <p:nvPr/>
        </p:nvSpPr>
        <p:spPr>
          <a:xfrm>
            <a:off x="13197840" y="9413557"/>
            <a:ext cx="3779520" cy="622935"/>
          </a:xfrm>
          <a:prstGeom prst="rect">
            <a:avLst/>
          </a:prstGeom>
        </p:spPr>
        <p:txBody>
          <a:bodyPr lIns="0" tIns="0" rIns="0" bIns="0" rtlCol="0" anchor="t">
            <a:spAutoFit/>
          </a:bodyPr>
          <a:lstStyle/>
          <a:p>
            <a:pPr algn="r">
              <a:lnSpc>
                <a:spcPts val="2160"/>
              </a:lnSpc>
            </a:pPr>
            <a:r>
              <a:rPr lang="en-US" sz="1800">
                <a:solidFill>
                  <a:srgbClr val="000000"/>
                </a:solidFill>
                <a:latin typeface="Verdana" panose="020B0604030504040204"/>
                <a:ea typeface="Verdana" panose="020B0604030504040204"/>
                <a:cs typeface="Verdana" panose="020B0604030504040204"/>
                <a:sym typeface="Verdana" panose="020B0604030504040204"/>
              </a:rPr>
              <a:t>3</a:t>
            </a:r>
          </a:p>
        </p:txBody>
      </p:sp>
      <p:sp>
        <p:nvSpPr>
          <p:cNvPr id="11" name="TextBox 11"/>
          <p:cNvSpPr txBox="1"/>
          <p:nvPr/>
        </p:nvSpPr>
        <p:spPr>
          <a:xfrm>
            <a:off x="1159174" y="2671015"/>
            <a:ext cx="16109947" cy="1115690"/>
          </a:xfrm>
          <a:prstGeom prst="rect">
            <a:avLst/>
          </a:prstGeom>
        </p:spPr>
        <p:txBody>
          <a:bodyPr lIns="0" tIns="0" rIns="0" bIns="0" rtlCol="0" anchor="t">
            <a:spAutoFit/>
          </a:bodyPr>
          <a:lstStyle/>
          <a:p>
            <a:pPr algn="just">
              <a:lnSpc>
                <a:spcPts val="2880"/>
              </a:lnSpc>
              <a:spcBef>
                <a:spcPct val="0"/>
              </a:spcBef>
            </a:pPr>
            <a:r>
              <a:rPr lang="en-US" sz="2800" b="1" dirty="0">
                <a:solidFill>
                  <a:srgbClr val="7030A0"/>
                </a:solidFill>
              </a:rPr>
              <a:t>PRIMARY OBJECTIVE : </a:t>
            </a:r>
          </a:p>
          <a:p>
            <a:pPr algn="just">
              <a:lnSpc>
                <a:spcPts val="2880"/>
              </a:lnSpc>
              <a:spcBef>
                <a:spcPct val="0"/>
              </a:spcBef>
            </a:pPr>
            <a:r>
              <a:rPr lang="en-US" sz="2500" dirty="0">
                <a:latin typeface="Times New Roman" panose="02020603050405020304" pitchFamily="18" charset="0"/>
                <a:cs typeface="Times New Roman" panose="02020603050405020304" pitchFamily="18" charset="0"/>
              </a:rPr>
              <a:t>To develop an integrated security framework that detects, analyzes, protects and responds to enterprise security incidents while providing post-quantum security and auditable operations.</a:t>
            </a:r>
            <a:endParaRPr lang="en-US" sz="2500"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12" name="TextBox 12"/>
          <p:cNvSpPr txBox="1"/>
          <p:nvPr/>
        </p:nvSpPr>
        <p:spPr>
          <a:xfrm>
            <a:off x="1159174" y="3901241"/>
            <a:ext cx="15604826" cy="4893647"/>
          </a:xfrm>
          <a:prstGeom prst="rect">
            <a:avLst/>
          </a:prstGeom>
        </p:spPr>
        <p:txBody>
          <a:bodyPr wrap="square" lIns="0" tIns="0" rIns="0" bIns="0" numCol="2" rtlCol="0" anchor="t">
            <a:spAutoFit/>
          </a:bodyPr>
          <a:lstStyle/>
          <a:p>
            <a:pPr algn="just">
              <a:lnSpc>
                <a:spcPts val="3600"/>
              </a:lnSpc>
              <a:spcBef>
                <a:spcPct val="0"/>
              </a:spcBef>
            </a:pPr>
            <a:r>
              <a:rPr lang="en-US" sz="3000" b="1" dirty="0">
                <a:solidFill>
                  <a:srgbClr val="7030A0"/>
                </a:solidFill>
                <a:latin typeface="Times New Roman" panose="02020603050405020304" pitchFamily="18" charset="0"/>
                <a:ea typeface="Times New Roman Bold" panose="02020803070505020304"/>
                <a:cs typeface="Times New Roman" panose="02020603050405020304" pitchFamily="18" charset="0"/>
                <a:sym typeface="Times New Roman Bold" panose="02020803070505020304"/>
              </a:rPr>
              <a:t>Key Objectives :</a:t>
            </a:r>
          </a:p>
          <a:p>
            <a:pPr algn="just">
              <a:lnSpc>
                <a:spcPts val="3600"/>
              </a:lnSpc>
              <a:spcBef>
                <a:spcPct val="0"/>
              </a:spcBef>
            </a:pPr>
            <a:endParaRPr lang="en-US" sz="3000" b="1" dirty="0">
              <a:solidFill>
                <a:srgbClr val="7030A0"/>
              </a:solidFill>
              <a:latin typeface="Times New Roman" panose="02020603050405020304" pitchFamily="18" charset="0"/>
              <a:ea typeface="Times New Roman Bold" panose="02020803070505020304"/>
              <a:cs typeface="Times New Roman" panose="02020603050405020304" pitchFamily="18" charset="0"/>
              <a:sym typeface="Times New Roman Bold" panose="02020803070505020304"/>
            </a:endParaRPr>
          </a:p>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Monitor Kubernetes security conditions.</a:t>
            </a:r>
          </a:p>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Detect, correlate and deduplicate security incidents.</a:t>
            </a:r>
          </a:p>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Perform AI-based incident classification and analysis.</a:t>
            </a:r>
          </a:p>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Generate severity and recommended security actions.</a:t>
            </a:r>
          </a:p>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Protect incident integrity using </a:t>
            </a:r>
            <a:r>
              <a:rPr lang="en-US" altLang="en-US" sz="2400" b="1" dirty="0">
                <a:latin typeface="Times New Roman" panose="02020603050405020304" pitchFamily="18" charset="0"/>
                <a:cs typeface="Times New Roman" panose="02020603050405020304" pitchFamily="18" charset="0"/>
              </a:rPr>
              <a:t>SHA-256</a:t>
            </a:r>
            <a:r>
              <a:rPr lang="en-US" altLang="en-US" sz="2400" dirty="0">
                <a:latin typeface="Times New Roman" panose="02020603050405020304" pitchFamily="18" charset="0"/>
                <a:cs typeface="Times New Roman" panose="02020603050405020304" pitchFamily="18" charset="0"/>
              </a:rPr>
              <a:t>.</a:t>
            </a:r>
          </a:p>
          <a:p>
            <a:pPr lvl="0" eaLnBrk="0" fontAlgn="base" hangingPunct="0">
              <a:lnSpc>
                <a:spcPct val="150000"/>
              </a:lnSpc>
              <a:spcBef>
                <a:spcPct val="0"/>
              </a:spcBef>
              <a:spcAft>
                <a:spcPct val="0"/>
              </a:spcAft>
              <a:buFontTx/>
              <a:buChar char="•"/>
            </a:pPr>
            <a:endParaRPr lang="en-US" altLang="en-US" sz="2400" dirty="0">
              <a:latin typeface="Times New Roman" panose="02020603050405020304" pitchFamily="18" charset="0"/>
              <a:cs typeface="Times New Roman" panose="02020603050405020304" pitchFamily="18" charset="0"/>
            </a:endParaRPr>
          </a:p>
          <a:p>
            <a:pPr lvl="0" eaLnBrk="0" fontAlgn="base" hangingPunct="0">
              <a:lnSpc>
                <a:spcPct val="150000"/>
              </a:lnSpc>
              <a:spcBef>
                <a:spcPct val="0"/>
              </a:spcBef>
              <a:spcAft>
                <a:spcPct val="0"/>
              </a:spcAft>
              <a:buFontTx/>
              <a:buChar char="•"/>
            </a:pPr>
            <a:endParaRPr lang="en-US" altLang="en-US" sz="2400" dirty="0">
              <a:latin typeface="Times New Roman" panose="02020603050405020304" pitchFamily="18" charset="0"/>
              <a:cs typeface="Times New Roman" panose="02020603050405020304" pitchFamily="18" charset="0"/>
            </a:endParaRPr>
          </a:p>
          <a:p>
            <a:pPr lvl="0" eaLnBrk="0" fontAlgn="base" hangingPunct="0">
              <a:lnSpc>
                <a:spcPct val="150000"/>
              </a:lnSpc>
              <a:spcBef>
                <a:spcPct val="0"/>
              </a:spcBef>
              <a:spcAft>
                <a:spcPct val="0"/>
              </a:spcAft>
            </a:pPr>
            <a:endParaRPr lang="en-US" altLang="en-US" sz="2400" dirty="0">
              <a:latin typeface="Times New Roman" panose="02020603050405020304" pitchFamily="18" charset="0"/>
              <a:cs typeface="Times New Roman" panose="02020603050405020304" pitchFamily="18" charset="0"/>
            </a:endParaRPr>
          </a:p>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Provide post-quantum security using </a:t>
            </a:r>
            <a:r>
              <a:rPr lang="en-US" altLang="en-US" sz="2400" b="1" dirty="0">
                <a:latin typeface="Times New Roman" panose="02020603050405020304" pitchFamily="18" charset="0"/>
                <a:cs typeface="Times New Roman" panose="02020603050405020304" pitchFamily="18" charset="0"/>
              </a:rPr>
              <a:t>ML-DSA and ML-KEM</a:t>
            </a:r>
            <a:r>
              <a:rPr lang="en-US" altLang="en-US" sz="2400" dirty="0">
                <a:latin typeface="Times New Roman" panose="02020603050405020304" pitchFamily="18" charset="0"/>
                <a:cs typeface="Times New Roman" panose="02020603050405020304" pitchFamily="18" charset="0"/>
              </a:rPr>
              <a:t>.</a:t>
            </a:r>
          </a:p>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Maintain tamper-evident blockchain audit records.</a:t>
            </a:r>
          </a:p>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Enforce human approval for sensitive responses.</a:t>
            </a:r>
          </a:p>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Verify response outcomes and maintain an audit trail.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212056" y="2343150"/>
            <a:ext cx="15930562" cy="178594"/>
            <a:chOff x="0" y="0"/>
            <a:chExt cx="21240750" cy="238125"/>
          </a:xfrm>
        </p:grpSpPr>
        <p:sp>
          <p:nvSpPr>
            <p:cNvPr id="4" name="Freeform 4"/>
            <p:cNvSpPr/>
            <p:nvPr/>
          </p:nvSpPr>
          <p:spPr>
            <a:xfrm>
              <a:off x="0" y="0"/>
              <a:ext cx="12425807" cy="238125"/>
            </a:xfrm>
            <a:custGeom>
              <a:avLst/>
              <a:gdLst/>
              <a:ahLst/>
              <a:cxnLst/>
              <a:rect l="l" t="t" r="r" b="b"/>
              <a:pathLst>
                <a:path w="12425807" h="238125">
                  <a:moveTo>
                    <a:pt x="0" y="0"/>
                  </a:moveTo>
                  <a:lnTo>
                    <a:pt x="12425807" y="0"/>
                  </a:lnTo>
                  <a:lnTo>
                    <a:pt x="12425807" y="238125"/>
                  </a:lnTo>
                  <a:lnTo>
                    <a:pt x="0" y="238125"/>
                  </a:lnTo>
                  <a:lnTo>
                    <a:pt x="0" y="0"/>
                  </a:lnTo>
                  <a:close/>
                </a:path>
              </a:pathLst>
            </a:custGeom>
            <a:solidFill>
              <a:srgbClr val="CC0000"/>
            </a:solidFill>
            <a:ln w="14288" cap="sq">
              <a:solidFill>
                <a:srgbClr val="CC0000"/>
              </a:solidFill>
              <a:prstDash val="solid"/>
              <a:miter/>
            </a:ln>
          </p:spPr>
        </p:sp>
        <p:sp>
          <p:nvSpPr>
            <p:cNvPr id="5" name="Freeform 5"/>
            <p:cNvSpPr/>
            <p:nvPr/>
          </p:nvSpPr>
          <p:spPr>
            <a:xfrm>
              <a:off x="0" y="0"/>
              <a:ext cx="21240750" cy="0"/>
            </a:xfrm>
            <a:custGeom>
              <a:avLst/>
              <a:gdLst/>
              <a:ahLst/>
              <a:cxnLst/>
              <a:rect l="l" t="t" r="r" b="b"/>
              <a:pathLst>
                <a:path w="21240750">
                  <a:moveTo>
                    <a:pt x="0" y="0"/>
                  </a:moveTo>
                  <a:lnTo>
                    <a:pt x="21240750" y="0"/>
                  </a:lnTo>
                </a:path>
              </a:pathLst>
            </a:custGeom>
            <a:solidFill>
              <a:srgbClr val="CC0000"/>
            </a:solidFill>
            <a:ln w="14288" cap="sq">
              <a:solidFill>
                <a:srgbClr val="CC0000"/>
              </a:solidFill>
              <a:prstDash val="solid"/>
              <a:miter/>
            </a:ln>
          </p:spPr>
        </p:sp>
      </p:grpSp>
      <p:sp>
        <p:nvSpPr>
          <p:cNvPr id="6" name="AutoShape 6"/>
          <p:cNvSpPr/>
          <p:nvPr/>
        </p:nvSpPr>
        <p:spPr>
          <a:xfrm rot="-1020">
            <a:off x="1216819" y="9253538"/>
            <a:ext cx="15854362" cy="0"/>
          </a:xfrm>
          <a:prstGeom prst="line">
            <a:avLst/>
          </a:prstGeom>
          <a:ln w="9525" cap="rnd">
            <a:solidFill>
              <a:srgbClr val="CC0000"/>
            </a:solidFill>
            <a:prstDash val="solid"/>
            <a:headEnd type="none" w="sm" len="sm"/>
            <a:tailEnd type="none" w="sm" len="sm"/>
          </a:ln>
        </p:spPr>
      </p:sp>
      <p:grpSp>
        <p:nvGrpSpPr>
          <p:cNvPr id="7" name="Group 7"/>
          <p:cNvGrpSpPr/>
          <p:nvPr/>
        </p:nvGrpSpPr>
        <p:grpSpPr>
          <a:xfrm>
            <a:off x="1149353" y="457200"/>
            <a:ext cx="16002000" cy="1824038"/>
            <a:chOff x="0" y="0"/>
            <a:chExt cx="21336000" cy="2432050"/>
          </a:xfrm>
        </p:grpSpPr>
        <p:sp>
          <p:nvSpPr>
            <p:cNvPr id="8" name="Freeform 8"/>
            <p:cNvSpPr/>
            <p:nvPr/>
          </p:nvSpPr>
          <p:spPr>
            <a:xfrm>
              <a:off x="0" y="0"/>
              <a:ext cx="21336000" cy="2432050"/>
            </a:xfrm>
            <a:custGeom>
              <a:avLst/>
              <a:gdLst/>
              <a:ahLst/>
              <a:cxnLst/>
              <a:rect l="l" t="t" r="r" b="b"/>
              <a:pathLst>
                <a:path w="21336000" h="2432050">
                  <a:moveTo>
                    <a:pt x="0" y="0"/>
                  </a:moveTo>
                  <a:lnTo>
                    <a:pt x="21336000" y="0"/>
                  </a:lnTo>
                  <a:lnTo>
                    <a:pt x="21336000" y="2432050"/>
                  </a:lnTo>
                  <a:lnTo>
                    <a:pt x="0" y="2432050"/>
                  </a:lnTo>
                  <a:close/>
                </a:path>
              </a:pathLst>
            </a:custGeom>
            <a:blipFill>
              <a:blip r:embed="rId3">
                <a:alphaModFix amt="0"/>
              </a:blip>
              <a:stretch>
                <a:fillRect t="-120939" b="-120939"/>
              </a:stretch>
            </a:blipFill>
          </p:spPr>
        </p:sp>
        <p:sp>
          <p:nvSpPr>
            <p:cNvPr id="9" name="TextBox 9"/>
            <p:cNvSpPr txBox="1"/>
            <p:nvPr/>
          </p:nvSpPr>
          <p:spPr>
            <a:xfrm>
              <a:off x="0" y="9525"/>
              <a:ext cx="21336000" cy="2422525"/>
            </a:xfrm>
            <a:prstGeom prst="rect">
              <a:avLst/>
            </a:prstGeom>
          </p:spPr>
          <p:txBody>
            <a:bodyPr lIns="0" tIns="0" rIns="0" bIns="0" rtlCol="0" anchor="b"/>
            <a:lstStyle/>
            <a:p>
              <a:pPr algn="l">
                <a:lnSpc>
                  <a:spcPts val="5760"/>
                </a:lnSpc>
              </a:pPr>
              <a:r>
                <a:rPr lang="en-US" sz="4800" b="1">
                  <a:solidFill>
                    <a:srgbClr val="FF0000"/>
                  </a:solidFill>
                  <a:latin typeface="Verdana Bold" panose="020B0804030504040204"/>
                  <a:ea typeface="Verdana Bold" panose="020B0804030504040204"/>
                  <a:cs typeface="Verdana Bold" panose="020B0804030504040204"/>
                  <a:sym typeface="Verdana Bold" panose="020B0804030504040204"/>
                </a:rPr>
                <a:t>Abstract</a:t>
              </a:r>
            </a:p>
          </p:txBody>
        </p:sp>
      </p:grpSp>
      <p:sp>
        <p:nvSpPr>
          <p:cNvPr id="10" name="TextBox 10"/>
          <p:cNvSpPr txBox="1"/>
          <p:nvPr/>
        </p:nvSpPr>
        <p:spPr>
          <a:xfrm>
            <a:off x="13197840" y="9413557"/>
            <a:ext cx="3779520" cy="622935"/>
          </a:xfrm>
          <a:prstGeom prst="rect">
            <a:avLst/>
          </a:prstGeom>
        </p:spPr>
        <p:txBody>
          <a:bodyPr lIns="0" tIns="0" rIns="0" bIns="0" rtlCol="0" anchor="t">
            <a:spAutoFit/>
          </a:bodyPr>
          <a:lstStyle/>
          <a:p>
            <a:pPr algn="r">
              <a:lnSpc>
                <a:spcPts val="2160"/>
              </a:lnSpc>
            </a:pPr>
            <a:r>
              <a:rPr lang="en-US" sz="1800">
                <a:solidFill>
                  <a:srgbClr val="000000"/>
                </a:solidFill>
                <a:latin typeface="Verdana" panose="020B0604030504040204"/>
                <a:ea typeface="Verdana" panose="020B0604030504040204"/>
                <a:cs typeface="Verdana" panose="020B0604030504040204"/>
                <a:sym typeface="Verdana" panose="020B0604030504040204"/>
              </a:rPr>
              <a:t>4</a:t>
            </a:r>
          </a:p>
        </p:txBody>
      </p:sp>
      <p:sp>
        <p:nvSpPr>
          <p:cNvPr id="11" name="TextBox 11"/>
          <p:cNvSpPr txBox="1"/>
          <p:nvPr/>
        </p:nvSpPr>
        <p:spPr>
          <a:xfrm>
            <a:off x="1136647" y="2999725"/>
            <a:ext cx="16122653" cy="4926798"/>
          </a:xfrm>
          <a:prstGeom prst="rect">
            <a:avLst/>
          </a:prstGeom>
        </p:spPr>
        <p:txBody>
          <a:bodyPr lIns="0" tIns="0" rIns="0" bIns="0" rtlCol="0" anchor="t">
            <a:spAutoFit/>
          </a:bodyPr>
          <a:lstStyle/>
          <a:p>
            <a:pPr algn="just">
              <a:lnSpc>
                <a:spcPct val="150000"/>
              </a:lnSpc>
            </a:pPr>
            <a:r>
              <a:rPr lang="en-US" sz="2400" b="1" dirty="0" err="1">
                <a:latin typeface="Times New Roman" panose="02020603050405020304" pitchFamily="18" charset="0"/>
                <a:cs typeface="Times New Roman" panose="02020603050405020304" pitchFamily="18" charset="0"/>
              </a:rPr>
              <a:t>QuantumSHIELD</a:t>
            </a:r>
            <a:r>
              <a:rPr lang="en-US" sz="2400" dirty="0">
                <a:latin typeface="Times New Roman" panose="02020603050405020304" pitchFamily="18" charset="0"/>
                <a:cs typeface="Times New Roman" panose="02020603050405020304" pitchFamily="18" charset="0"/>
              </a:rPr>
              <a:t> is a security framework designed to protect enterprise IT environments against evolving cyber threats and future quantum-computing risks. The system integrates Kubernetes security monitoring, AI-based incident analysis, post-quantum cryptography, blockchain-based auditing, role-based access control, and controlled incident response into a unified workflow. Security observations are converted into incidents and analyzed using AI to determine their classification, confidence, severity, and recommended actions. SHA-256 provides data integrity, while ML-DSA-65 supports post-quantum digital signatures and ML-KEM-768 provides post-quantum key establishment for protected evidence. Blockchain-based auditing maintains tamper-evident security records, while human approval and policy-based controls ensure safe responses. The system was validated through a local demonstration environment covering incident detection, AI analysis, PQC protection, controlled response, verification, and audit recording.</a:t>
            </a:r>
            <a:endParaRPr lang="en-US" sz="2400"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212056" y="2343150"/>
            <a:ext cx="15930562" cy="178594"/>
            <a:chOff x="0" y="0"/>
            <a:chExt cx="21240750" cy="238125"/>
          </a:xfrm>
        </p:grpSpPr>
        <p:sp>
          <p:nvSpPr>
            <p:cNvPr id="4" name="Freeform 4"/>
            <p:cNvSpPr/>
            <p:nvPr/>
          </p:nvSpPr>
          <p:spPr>
            <a:xfrm>
              <a:off x="0" y="0"/>
              <a:ext cx="12425807" cy="238125"/>
            </a:xfrm>
            <a:custGeom>
              <a:avLst/>
              <a:gdLst/>
              <a:ahLst/>
              <a:cxnLst/>
              <a:rect l="l" t="t" r="r" b="b"/>
              <a:pathLst>
                <a:path w="12425807" h="238125">
                  <a:moveTo>
                    <a:pt x="0" y="0"/>
                  </a:moveTo>
                  <a:lnTo>
                    <a:pt x="12425807" y="0"/>
                  </a:lnTo>
                  <a:lnTo>
                    <a:pt x="12425807" y="238125"/>
                  </a:lnTo>
                  <a:lnTo>
                    <a:pt x="0" y="238125"/>
                  </a:lnTo>
                  <a:lnTo>
                    <a:pt x="0" y="0"/>
                  </a:lnTo>
                  <a:close/>
                </a:path>
              </a:pathLst>
            </a:custGeom>
            <a:solidFill>
              <a:srgbClr val="CC0000"/>
            </a:solidFill>
            <a:ln w="14288" cap="sq">
              <a:solidFill>
                <a:srgbClr val="CC0000"/>
              </a:solidFill>
              <a:prstDash val="solid"/>
              <a:miter/>
            </a:ln>
          </p:spPr>
        </p:sp>
        <p:sp>
          <p:nvSpPr>
            <p:cNvPr id="5" name="Freeform 5"/>
            <p:cNvSpPr/>
            <p:nvPr/>
          </p:nvSpPr>
          <p:spPr>
            <a:xfrm>
              <a:off x="0" y="0"/>
              <a:ext cx="21240750" cy="0"/>
            </a:xfrm>
            <a:custGeom>
              <a:avLst/>
              <a:gdLst/>
              <a:ahLst/>
              <a:cxnLst/>
              <a:rect l="l" t="t" r="r" b="b"/>
              <a:pathLst>
                <a:path w="21240750">
                  <a:moveTo>
                    <a:pt x="0" y="0"/>
                  </a:moveTo>
                  <a:lnTo>
                    <a:pt x="21240750" y="0"/>
                  </a:lnTo>
                </a:path>
              </a:pathLst>
            </a:custGeom>
            <a:solidFill>
              <a:srgbClr val="CC0000"/>
            </a:solidFill>
            <a:ln w="14288" cap="sq">
              <a:solidFill>
                <a:srgbClr val="CC0000"/>
              </a:solidFill>
              <a:prstDash val="solid"/>
              <a:miter/>
            </a:ln>
          </p:spPr>
        </p:sp>
      </p:grpSp>
      <p:sp>
        <p:nvSpPr>
          <p:cNvPr id="6" name="AutoShape 6"/>
          <p:cNvSpPr/>
          <p:nvPr/>
        </p:nvSpPr>
        <p:spPr>
          <a:xfrm rot="-1020">
            <a:off x="1216819" y="9253538"/>
            <a:ext cx="15854362" cy="0"/>
          </a:xfrm>
          <a:prstGeom prst="line">
            <a:avLst/>
          </a:prstGeom>
          <a:ln w="9525" cap="rnd">
            <a:solidFill>
              <a:srgbClr val="CC0000"/>
            </a:solidFill>
            <a:prstDash val="solid"/>
            <a:headEnd type="none" w="sm" len="sm"/>
            <a:tailEnd type="none" w="sm" len="sm"/>
          </a:ln>
        </p:spPr>
      </p:sp>
      <p:grpSp>
        <p:nvGrpSpPr>
          <p:cNvPr id="7" name="Group 7"/>
          <p:cNvGrpSpPr/>
          <p:nvPr/>
        </p:nvGrpSpPr>
        <p:grpSpPr>
          <a:xfrm>
            <a:off x="1149353" y="457200"/>
            <a:ext cx="16002000" cy="1824038"/>
            <a:chOff x="0" y="0"/>
            <a:chExt cx="21336000" cy="2432050"/>
          </a:xfrm>
        </p:grpSpPr>
        <p:sp>
          <p:nvSpPr>
            <p:cNvPr id="8" name="Freeform 8"/>
            <p:cNvSpPr/>
            <p:nvPr/>
          </p:nvSpPr>
          <p:spPr>
            <a:xfrm>
              <a:off x="0" y="0"/>
              <a:ext cx="21336000" cy="2432050"/>
            </a:xfrm>
            <a:custGeom>
              <a:avLst/>
              <a:gdLst/>
              <a:ahLst/>
              <a:cxnLst/>
              <a:rect l="l" t="t" r="r" b="b"/>
              <a:pathLst>
                <a:path w="21336000" h="2432050">
                  <a:moveTo>
                    <a:pt x="0" y="0"/>
                  </a:moveTo>
                  <a:lnTo>
                    <a:pt x="21336000" y="0"/>
                  </a:lnTo>
                  <a:lnTo>
                    <a:pt x="21336000" y="2432050"/>
                  </a:lnTo>
                  <a:lnTo>
                    <a:pt x="0" y="2432050"/>
                  </a:lnTo>
                  <a:close/>
                </a:path>
              </a:pathLst>
            </a:custGeom>
            <a:blipFill>
              <a:blip r:embed="rId3">
                <a:alphaModFix amt="0"/>
              </a:blip>
              <a:stretch>
                <a:fillRect t="-120939" b="-120939"/>
              </a:stretch>
            </a:blipFill>
          </p:spPr>
        </p:sp>
        <p:sp>
          <p:nvSpPr>
            <p:cNvPr id="9" name="TextBox 9"/>
            <p:cNvSpPr txBox="1"/>
            <p:nvPr/>
          </p:nvSpPr>
          <p:spPr>
            <a:xfrm>
              <a:off x="0" y="9525"/>
              <a:ext cx="21336000" cy="2422525"/>
            </a:xfrm>
            <a:prstGeom prst="rect">
              <a:avLst/>
            </a:prstGeom>
          </p:spPr>
          <p:txBody>
            <a:bodyPr lIns="0" tIns="0" rIns="0" bIns="0" rtlCol="0" anchor="b"/>
            <a:lstStyle/>
            <a:p>
              <a:pPr algn="l">
                <a:lnSpc>
                  <a:spcPts val="5760"/>
                </a:lnSpc>
              </a:pPr>
              <a:r>
                <a:rPr lang="en-US" sz="4800" b="1">
                  <a:solidFill>
                    <a:srgbClr val="FF0000"/>
                  </a:solidFill>
                  <a:latin typeface="Verdana Bold" panose="020B0804030504040204"/>
                  <a:ea typeface="Verdana Bold" panose="020B0804030504040204"/>
                  <a:cs typeface="Verdana Bold" panose="020B0804030504040204"/>
                  <a:sym typeface="Verdana Bold" panose="020B0804030504040204"/>
                </a:rPr>
                <a:t>System Architecture</a:t>
              </a:r>
            </a:p>
          </p:txBody>
        </p:sp>
      </p:grpSp>
      <p:sp>
        <p:nvSpPr>
          <p:cNvPr id="11" name="TextBox 11"/>
          <p:cNvSpPr txBox="1"/>
          <p:nvPr/>
        </p:nvSpPr>
        <p:spPr>
          <a:xfrm>
            <a:off x="13197840" y="9413557"/>
            <a:ext cx="3779520" cy="622935"/>
          </a:xfrm>
          <a:prstGeom prst="rect">
            <a:avLst/>
          </a:prstGeom>
        </p:spPr>
        <p:txBody>
          <a:bodyPr lIns="0" tIns="0" rIns="0" bIns="0" rtlCol="0" anchor="t">
            <a:spAutoFit/>
          </a:bodyPr>
          <a:lstStyle/>
          <a:p>
            <a:pPr algn="r">
              <a:lnSpc>
                <a:spcPts val="2160"/>
              </a:lnSpc>
            </a:pPr>
            <a:r>
              <a:rPr lang="en-US" sz="1800">
                <a:solidFill>
                  <a:srgbClr val="000000"/>
                </a:solidFill>
                <a:latin typeface="Verdana" panose="020B0604030504040204"/>
                <a:ea typeface="Verdana" panose="020B0604030504040204"/>
                <a:cs typeface="Verdana" panose="020B0604030504040204"/>
                <a:sym typeface="Verdana" panose="020B0604030504040204"/>
              </a:rPr>
              <a:t>5</a:t>
            </a:r>
          </a:p>
        </p:txBody>
      </p:sp>
      <p:pic>
        <p:nvPicPr>
          <p:cNvPr id="12" name="Picture 11">
            <a:extLst>
              <a:ext uri="{FF2B5EF4-FFF2-40B4-BE49-F238E27FC236}">
                <a16:creationId xmlns:a16="http://schemas.microsoft.com/office/drawing/2014/main" id="{CC0011C3-6CAC-0241-A0F0-0498DC477076}"/>
              </a:ext>
            </a:extLst>
          </p:cNvPr>
          <p:cNvPicPr>
            <a:picLocks noChangeAspect="1"/>
          </p:cNvPicPr>
          <p:nvPr/>
        </p:nvPicPr>
        <p:blipFill>
          <a:blip r:embed="rId4"/>
          <a:stretch>
            <a:fillRect/>
          </a:stretch>
        </p:blipFill>
        <p:spPr>
          <a:xfrm>
            <a:off x="3429000" y="2583656"/>
            <a:ext cx="10515600" cy="66009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212056" y="2343150"/>
            <a:ext cx="15930562" cy="178594"/>
            <a:chOff x="0" y="0"/>
            <a:chExt cx="21240750" cy="238125"/>
          </a:xfrm>
        </p:grpSpPr>
        <p:sp>
          <p:nvSpPr>
            <p:cNvPr id="4" name="Freeform 4"/>
            <p:cNvSpPr/>
            <p:nvPr/>
          </p:nvSpPr>
          <p:spPr>
            <a:xfrm>
              <a:off x="0" y="0"/>
              <a:ext cx="12425807" cy="238125"/>
            </a:xfrm>
            <a:custGeom>
              <a:avLst/>
              <a:gdLst/>
              <a:ahLst/>
              <a:cxnLst/>
              <a:rect l="l" t="t" r="r" b="b"/>
              <a:pathLst>
                <a:path w="12425807" h="238125">
                  <a:moveTo>
                    <a:pt x="0" y="0"/>
                  </a:moveTo>
                  <a:lnTo>
                    <a:pt x="12425807" y="0"/>
                  </a:lnTo>
                  <a:lnTo>
                    <a:pt x="12425807" y="238125"/>
                  </a:lnTo>
                  <a:lnTo>
                    <a:pt x="0" y="238125"/>
                  </a:lnTo>
                  <a:lnTo>
                    <a:pt x="0" y="0"/>
                  </a:lnTo>
                  <a:close/>
                </a:path>
              </a:pathLst>
            </a:custGeom>
            <a:solidFill>
              <a:srgbClr val="CC0000"/>
            </a:solidFill>
            <a:ln w="14288" cap="sq">
              <a:solidFill>
                <a:srgbClr val="CC0000"/>
              </a:solidFill>
              <a:prstDash val="solid"/>
              <a:miter/>
            </a:ln>
          </p:spPr>
        </p:sp>
        <p:sp>
          <p:nvSpPr>
            <p:cNvPr id="5" name="Freeform 5"/>
            <p:cNvSpPr/>
            <p:nvPr/>
          </p:nvSpPr>
          <p:spPr>
            <a:xfrm>
              <a:off x="0" y="0"/>
              <a:ext cx="21240750" cy="0"/>
            </a:xfrm>
            <a:custGeom>
              <a:avLst/>
              <a:gdLst/>
              <a:ahLst/>
              <a:cxnLst/>
              <a:rect l="l" t="t" r="r" b="b"/>
              <a:pathLst>
                <a:path w="21240750">
                  <a:moveTo>
                    <a:pt x="0" y="0"/>
                  </a:moveTo>
                  <a:lnTo>
                    <a:pt x="21240750" y="0"/>
                  </a:lnTo>
                </a:path>
              </a:pathLst>
            </a:custGeom>
            <a:solidFill>
              <a:srgbClr val="CC0000"/>
            </a:solidFill>
            <a:ln w="14288" cap="sq">
              <a:solidFill>
                <a:srgbClr val="CC0000"/>
              </a:solidFill>
              <a:prstDash val="solid"/>
              <a:miter/>
            </a:ln>
          </p:spPr>
        </p:sp>
      </p:grpSp>
      <p:sp>
        <p:nvSpPr>
          <p:cNvPr id="6" name="AutoShape 6"/>
          <p:cNvSpPr/>
          <p:nvPr/>
        </p:nvSpPr>
        <p:spPr>
          <a:xfrm rot="-1020">
            <a:off x="1216819" y="9253538"/>
            <a:ext cx="15854362" cy="0"/>
          </a:xfrm>
          <a:prstGeom prst="line">
            <a:avLst/>
          </a:prstGeom>
          <a:ln w="9525" cap="rnd">
            <a:solidFill>
              <a:srgbClr val="CC0000"/>
            </a:solidFill>
            <a:prstDash val="solid"/>
            <a:headEnd type="none" w="sm" len="sm"/>
            <a:tailEnd type="none" w="sm" len="sm"/>
          </a:ln>
        </p:spPr>
      </p:sp>
      <p:grpSp>
        <p:nvGrpSpPr>
          <p:cNvPr id="7" name="Group 7"/>
          <p:cNvGrpSpPr/>
          <p:nvPr/>
        </p:nvGrpSpPr>
        <p:grpSpPr>
          <a:xfrm>
            <a:off x="1149353" y="457200"/>
            <a:ext cx="16002000" cy="1824038"/>
            <a:chOff x="0" y="0"/>
            <a:chExt cx="21336000" cy="2432050"/>
          </a:xfrm>
        </p:grpSpPr>
        <p:sp>
          <p:nvSpPr>
            <p:cNvPr id="8" name="Freeform 8"/>
            <p:cNvSpPr/>
            <p:nvPr/>
          </p:nvSpPr>
          <p:spPr>
            <a:xfrm>
              <a:off x="0" y="0"/>
              <a:ext cx="21336000" cy="2432050"/>
            </a:xfrm>
            <a:custGeom>
              <a:avLst/>
              <a:gdLst/>
              <a:ahLst/>
              <a:cxnLst/>
              <a:rect l="l" t="t" r="r" b="b"/>
              <a:pathLst>
                <a:path w="21336000" h="2432050">
                  <a:moveTo>
                    <a:pt x="0" y="0"/>
                  </a:moveTo>
                  <a:lnTo>
                    <a:pt x="21336000" y="0"/>
                  </a:lnTo>
                  <a:lnTo>
                    <a:pt x="21336000" y="2432050"/>
                  </a:lnTo>
                  <a:lnTo>
                    <a:pt x="0" y="2432050"/>
                  </a:lnTo>
                  <a:close/>
                </a:path>
              </a:pathLst>
            </a:custGeom>
            <a:blipFill>
              <a:blip r:embed="rId3">
                <a:alphaModFix amt="0"/>
              </a:blip>
              <a:stretch>
                <a:fillRect t="-120939" b="-120939"/>
              </a:stretch>
            </a:blipFill>
          </p:spPr>
        </p:sp>
        <p:sp>
          <p:nvSpPr>
            <p:cNvPr id="9" name="TextBox 9"/>
            <p:cNvSpPr txBox="1"/>
            <p:nvPr/>
          </p:nvSpPr>
          <p:spPr>
            <a:xfrm>
              <a:off x="0" y="9525"/>
              <a:ext cx="21336000" cy="2422525"/>
            </a:xfrm>
            <a:prstGeom prst="rect">
              <a:avLst/>
            </a:prstGeom>
          </p:spPr>
          <p:txBody>
            <a:bodyPr lIns="0" tIns="0" rIns="0" bIns="0" rtlCol="0" anchor="b"/>
            <a:lstStyle/>
            <a:p>
              <a:pPr algn="l">
                <a:lnSpc>
                  <a:spcPts val="5760"/>
                </a:lnSpc>
              </a:pPr>
              <a:r>
                <a:rPr lang="en-US" sz="4800" b="1">
                  <a:solidFill>
                    <a:srgbClr val="FF0000"/>
                  </a:solidFill>
                  <a:latin typeface="Verdana Bold" panose="020B0804030504040204"/>
                  <a:ea typeface="Verdana Bold" panose="020B0804030504040204"/>
                  <a:cs typeface="Verdana Bold" panose="020B0804030504040204"/>
                  <a:sym typeface="Verdana Bold" panose="020B0804030504040204"/>
                </a:rPr>
                <a:t>UML/DFD Diagram</a:t>
              </a:r>
            </a:p>
          </p:txBody>
        </p:sp>
      </p:grpSp>
      <p:sp>
        <p:nvSpPr>
          <p:cNvPr id="11" name="TextBox 11"/>
          <p:cNvSpPr txBox="1"/>
          <p:nvPr/>
        </p:nvSpPr>
        <p:spPr>
          <a:xfrm>
            <a:off x="13197840" y="9413557"/>
            <a:ext cx="3779520" cy="622935"/>
          </a:xfrm>
          <a:prstGeom prst="rect">
            <a:avLst/>
          </a:prstGeom>
        </p:spPr>
        <p:txBody>
          <a:bodyPr lIns="0" tIns="0" rIns="0" bIns="0" rtlCol="0" anchor="t">
            <a:spAutoFit/>
          </a:bodyPr>
          <a:lstStyle/>
          <a:p>
            <a:pPr algn="r">
              <a:lnSpc>
                <a:spcPts val="2160"/>
              </a:lnSpc>
            </a:pPr>
            <a:r>
              <a:rPr lang="en-US" sz="1800">
                <a:solidFill>
                  <a:srgbClr val="000000"/>
                </a:solidFill>
                <a:latin typeface="Verdana" panose="020B0604030504040204"/>
                <a:ea typeface="Verdana" panose="020B0604030504040204"/>
                <a:cs typeface="Verdana" panose="020B0604030504040204"/>
                <a:sym typeface="Verdana" panose="020B0604030504040204"/>
              </a:rPr>
              <a:t>6</a:t>
            </a:r>
          </a:p>
        </p:txBody>
      </p:sp>
      <p:pic>
        <p:nvPicPr>
          <p:cNvPr id="14" name="Picture 13">
            <a:extLst>
              <a:ext uri="{FF2B5EF4-FFF2-40B4-BE49-F238E27FC236}">
                <a16:creationId xmlns:a16="http://schemas.microsoft.com/office/drawing/2014/main" id="{3426FC59-FC69-ACA4-3328-3D4FACCB6A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00200" y="2510843"/>
            <a:ext cx="14935200" cy="669550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212056" y="2343150"/>
            <a:ext cx="15930562" cy="178594"/>
            <a:chOff x="0" y="0"/>
            <a:chExt cx="21240750" cy="238125"/>
          </a:xfrm>
        </p:grpSpPr>
        <p:sp>
          <p:nvSpPr>
            <p:cNvPr id="4" name="Freeform 4"/>
            <p:cNvSpPr/>
            <p:nvPr/>
          </p:nvSpPr>
          <p:spPr>
            <a:xfrm>
              <a:off x="0" y="0"/>
              <a:ext cx="12425807" cy="238125"/>
            </a:xfrm>
            <a:custGeom>
              <a:avLst/>
              <a:gdLst/>
              <a:ahLst/>
              <a:cxnLst/>
              <a:rect l="l" t="t" r="r" b="b"/>
              <a:pathLst>
                <a:path w="12425807" h="238125">
                  <a:moveTo>
                    <a:pt x="0" y="0"/>
                  </a:moveTo>
                  <a:lnTo>
                    <a:pt x="12425807" y="0"/>
                  </a:lnTo>
                  <a:lnTo>
                    <a:pt x="12425807" y="238125"/>
                  </a:lnTo>
                  <a:lnTo>
                    <a:pt x="0" y="238125"/>
                  </a:lnTo>
                  <a:lnTo>
                    <a:pt x="0" y="0"/>
                  </a:lnTo>
                  <a:close/>
                </a:path>
              </a:pathLst>
            </a:custGeom>
            <a:solidFill>
              <a:srgbClr val="CC0000"/>
            </a:solidFill>
            <a:ln w="14288" cap="sq">
              <a:solidFill>
                <a:srgbClr val="CC0000"/>
              </a:solidFill>
              <a:prstDash val="solid"/>
              <a:miter/>
            </a:ln>
          </p:spPr>
        </p:sp>
        <p:sp>
          <p:nvSpPr>
            <p:cNvPr id="5" name="Freeform 5"/>
            <p:cNvSpPr/>
            <p:nvPr/>
          </p:nvSpPr>
          <p:spPr>
            <a:xfrm>
              <a:off x="0" y="0"/>
              <a:ext cx="21240750" cy="0"/>
            </a:xfrm>
            <a:custGeom>
              <a:avLst/>
              <a:gdLst/>
              <a:ahLst/>
              <a:cxnLst/>
              <a:rect l="l" t="t" r="r" b="b"/>
              <a:pathLst>
                <a:path w="21240750">
                  <a:moveTo>
                    <a:pt x="0" y="0"/>
                  </a:moveTo>
                  <a:lnTo>
                    <a:pt x="21240750" y="0"/>
                  </a:lnTo>
                </a:path>
              </a:pathLst>
            </a:custGeom>
            <a:solidFill>
              <a:srgbClr val="CC0000"/>
            </a:solidFill>
            <a:ln w="14288" cap="sq">
              <a:solidFill>
                <a:srgbClr val="CC0000"/>
              </a:solidFill>
              <a:prstDash val="solid"/>
              <a:miter/>
            </a:ln>
          </p:spPr>
        </p:sp>
      </p:grpSp>
      <p:sp>
        <p:nvSpPr>
          <p:cNvPr id="6" name="AutoShape 6"/>
          <p:cNvSpPr/>
          <p:nvPr/>
        </p:nvSpPr>
        <p:spPr>
          <a:xfrm rot="-1020">
            <a:off x="1216819" y="9253538"/>
            <a:ext cx="15854362" cy="0"/>
          </a:xfrm>
          <a:prstGeom prst="line">
            <a:avLst/>
          </a:prstGeom>
          <a:ln w="9525" cap="rnd">
            <a:solidFill>
              <a:srgbClr val="CC0000"/>
            </a:solidFill>
            <a:prstDash val="solid"/>
            <a:headEnd type="none" w="sm" len="sm"/>
            <a:tailEnd type="none" w="sm" len="sm"/>
          </a:ln>
        </p:spPr>
      </p:sp>
      <p:grpSp>
        <p:nvGrpSpPr>
          <p:cNvPr id="7" name="Group 7"/>
          <p:cNvGrpSpPr/>
          <p:nvPr/>
        </p:nvGrpSpPr>
        <p:grpSpPr>
          <a:xfrm>
            <a:off x="1149353" y="457200"/>
            <a:ext cx="16002000" cy="1824038"/>
            <a:chOff x="0" y="0"/>
            <a:chExt cx="21336000" cy="2432050"/>
          </a:xfrm>
        </p:grpSpPr>
        <p:sp>
          <p:nvSpPr>
            <p:cNvPr id="8" name="Freeform 8"/>
            <p:cNvSpPr/>
            <p:nvPr/>
          </p:nvSpPr>
          <p:spPr>
            <a:xfrm>
              <a:off x="0" y="0"/>
              <a:ext cx="21336000" cy="2432050"/>
            </a:xfrm>
            <a:custGeom>
              <a:avLst/>
              <a:gdLst/>
              <a:ahLst/>
              <a:cxnLst/>
              <a:rect l="l" t="t" r="r" b="b"/>
              <a:pathLst>
                <a:path w="21336000" h="2432050">
                  <a:moveTo>
                    <a:pt x="0" y="0"/>
                  </a:moveTo>
                  <a:lnTo>
                    <a:pt x="21336000" y="0"/>
                  </a:lnTo>
                  <a:lnTo>
                    <a:pt x="21336000" y="2432050"/>
                  </a:lnTo>
                  <a:lnTo>
                    <a:pt x="0" y="2432050"/>
                  </a:lnTo>
                  <a:close/>
                </a:path>
              </a:pathLst>
            </a:custGeom>
            <a:blipFill>
              <a:blip r:embed="rId3">
                <a:alphaModFix amt="0"/>
              </a:blip>
              <a:stretch>
                <a:fillRect t="-120939" b="-120939"/>
              </a:stretch>
            </a:blipFill>
          </p:spPr>
        </p:sp>
        <p:sp>
          <p:nvSpPr>
            <p:cNvPr id="9" name="TextBox 9"/>
            <p:cNvSpPr txBox="1"/>
            <p:nvPr/>
          </p:nvSpPr>
          <p:spPr>
            <a:xfrm>
              <a:off x="0" y="9525"/>
              <a:ext cx="21336000" cy="2422525"/>
            </a:xfrm>
            <a:prstGeom prst="rect">
              <a:avLst/>
            </a:prstGeom>
          </p:spPr>
          <p:txBody>
            <a:bodyPr lIns="0" tIns="0" rIns="0" bIns="0" rtlCol="0" anchor="b"/>
            <a:lstStyle/>
            <a:p>
              <a:pPr algn="l">
                <a:lnSpc>
                  <a:spcPts val="5760"/>
                </a:lnSpc>
              </a:pPr>
              <a:r>
                <a:rPr lang="en-US" sz="4800" b="1">
                  <a:solidFill>
                    <a:srgbClr val="FF0000"/>
                  </a:solidFill>
                  <a:latin typeface="Verdana Bold" panose="020B0804030504040204"/>
                  <a:ea typeface="Verdana Bold" panose="020B0804030504040204"/>
                  <a:cs typeface="Verdana Bold" panose="020B0804030504040204"/>
                  <a:sym typeface="Verdana Bold" panose="020B0804030504040204"/>
                </a:rPr>
                <a:t>List of Modules</a:t>
              </a:r>
            </a:p>
          </p:txBody>
        </p:sp>
      </p:grpSp>
      <p:sp>
        <p:nvSpPr>
          <p:cNvPr id="11" name="TextBox 11"/>
          <p:cNvSpPr txBox="1"/>
          <p:nvPr/>
        </p:nvSpPr>
        <p:spPr>
          <a:xfrm>
            <a:off x="13197840" y="9413557"/>
            <a:ext cx="3779520" cy="622935"/>
          </a:xfrm>
          <a:prstGeom prst="rect">
            <a:avLst/>
          </a:prstGeom>
        </p:spPr>
        <p:txBody>
          <a:bodyPr lIns="0" tIns="0" rIns="0" bIns="0" rtlCol="0" anchor="t">
            <a:spAutoFit/>
          </a:bodyPr>
          <a:lstStyle/>
          <a:p>
            <a:pPr algn="r">
              <a:lnSpc>
                <a:spcPts val="2160"/>
              </a:lnSpc>
            </a:pPr>
            <a:r>
              <a:rPr lang="en-US" sz="1800">
                <a:solidFill>
                  <a:srgbClr val="000000"/>
                </a:solidFill>
                <a:latin typeface="Verdana" panose="020B0604030504040204"/>
                <a:ea typeface="Verdana" panose="020B0604030504040204"/>
                <a:cs typeface="Verdana" panose="020B0604030504040204"/>
                <a:sym typeface="Verdana" panose="020B0604030504040204"/>
              </a:rPr>
              <a:t>7</a:t>
            </a:r>
          </a:p>
        </p:txBody>
      </p:sp>
      <p:pic>
        <p:nvPicPr>
          <p:cNvPr id="15" name="Picture 14">
            <a:extLst>
              <a:ext uri="{FF2B5EF4-FFF2-40B4-BE49-F238E27FC236}">
                <a16:creationId xmlns:a16="http://schemas.microsoft.com/office/drawing/2014/main" id="{C098EB7D-2E53-1C7E-485F-8E5BB898DD37}"/>
              </a:ext>
            </a:extLst>
          </p:cNvPr>
          <p:cNvPicPr>
            <a:picLocks noChangeAspect="1"/>
          </p:cNvPicPr>
          <p:nvPr/>
        </p:nvPicPr>
        <p:blipFill>
          <a:blip r:embed="rId4">
            <a:extLst>
              <a:ext uri="{28A0092B-C50C-407E-A947-70E740481C1C}">
                <a14:useLocalDpi xmlns:a14="http://schemas.microsoft.com/office/drawing/2010/main" val="0"/>
              </a:ext>
            </a:extLst>
          </a:blip>
          <a:srcRect t="11876"/>
          <a:stretch>
            <a:fillRect/>
          </a:stretch>
        </p:blipFill>
        <p:spPr>
          <a:xfrm>
            <a:off x="1212056" y="2679410"/>
            <a:ext cx="15628144" cy="634868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212056" y="2343150"/>
            <a:ext cx="15930562" cy="178594"/>
            <a:chOff x="0" y="0"/>
            <a:chExt cx="21240750" cy="238125"/>
          </a:xfrm>
        </p:grpSpPr>
        <p:sp>
          <p:nvSpPr>
            <p:cNvPr id="4" name="Freeform 4"/>
            <p:cNvSpPr/>
            <p:nvPr/>
          </p:nvSpPr>
          <p:spPr>
            <a:xfrm>
              <a:off x="0" y="0"/>
              <a:ext cx="12425807" cy="238125"/>
            </a:xfrm>
            <a:custGeom>
              <a:avLst/>
              <a:gdLst/>
              <a:ahLst/>
              <a:cxnLst/>
              <a:rect l="l" t="t" r="r" b="b"/>
              <a:pathLst>
                <a:path w="12425807" h="238125">
                  <a:moveTo>
                    <a:pt x="0" y="0"/>
                  </a:moveTo>
                  <a:lnTo>
                    <a:pt x="12425807" y="0"/>
                  </a:lnTo>
                  <a:lnTo>
                    <a:pt x="12425807" y="238125"/>
                  </a:lnTo>
                  <a:lnTo>
                    <a:pt x="0" y="238125"/>
                  </a:lnTo>
                  <a:lnTo>
                    <a:pt x="0" y="0"/>
                  </a:lnTo>
                  <a:close/>
                </a:path>
              </a:pathLst>
            </a:custGeom>
            <a:solidFill>
              <a:srgbClr val="CC0000"/>
            </a:solidFill>
            <a:ln w="14288" cap="sq">
              <a:solidFill>
                <a:srgbClr val="CC0000"/>
              </a:solidFill>
              <a:prstDash val="solid"/>
              <a:miter/>
            </a:ln>
          </p:spPr>
        </p:sp>
        <p:sp>
          <p:nvSpPr>
            <p:cNvPr id="5" name="Freeform 5"/>
            <p:cNvSpPr/>
            <p:nvPr/>
          </p:nvSpPr>
          <p:spPr>
            <a:xfrm>
              <a:off x="0" y="0"/>
              <a:ext cx="21240750" cy="0"/>
            </a:xfrm>
            <a:custGeom>
              <a:avLst/>
              <a:gdLst/>
              <a:ahLst/>
              <a:cxnLst/>
              <a:rect l="l" t="t" r="r" b="b"/>
              <a:pathLst>
                <a:path w="21240750">
                  <a:moveTo>
                    <a:pt x="0" y="0"/>
                  </a:moveTo>
                  <a:lnTo>
                    <a:pt x="21240750" y="0"/>
                  </a:lnTo>
                </a:path>
              </a:pathLst>
            </a:custGeom>
            <a:solidFill>
              <a:srgbClr val="CC0000"/>
            </a:solidFill>
            <a:ln w="14288" cap="sq">
              <a:solidFill>
                <a:srgbClr val="CC0000"/>
              </a:solidFill>
              <a:prstDash val="solid"/>
              <a:miter/>
            </a:ln>
          </p:spPr>
        </p:sp>
      </p:grpSp>
      <p:sp>
        <p:nvSpPr>
          <p:cNvPr id="6" name="AutoShape 6"/>
          <p:cNvSpPr/>
          <p:nvPr/>
        </p:nvSpPr>
        <p:spPr>
          <a:xfrm rot="-1020">
            <a:off x="1216819" y="9253538"/>
            <a:ext cx="15854362" cy="0"/>
          </a:xfrm>
          <a:prstGeom prst="line">
            <a:avLst/>
          </a:prstGeom>
          <a:ln w="9525" cap="rnd">
            <a:solidFill>
              <a:srgbClr val="CC0000"/>
            </a:solidFill>
            <a:prstDash val="solid"/>
            <a:headEnd type="none" w="sm" len="sm"/>
            <a:tailEnd type="none" w="sm" len="sm"/>
          </a:ln>
        </p:spPr>
      </p:sp>
      <p:grpSp>
        <p:nvGrpSpPr>
          <p:cNvPr id="7" name="Group 7"/>
          <p:cNvGrpSpPr/>
          <p:nvPr/>
        </p:nvGrpSpPr>
        <p:grpSpPr>
          <a:xfrm>
            <a:off x="1149353" y="457200"/>
            <a:ext cx="16002000" cy="1824038"/>
            <a:chOff x="0" y="0"/>
            <a:chExt cx="21336000" cy="2432050"/>
          </a:xfrm>
        </p:grpSpPr>
        <p:sp>
          <p:nvSpPr>
            <p:cNvPr id="8" name="Freeform 8"/>
            <p:cNvSpPr/>
            <p:nvPr/>
          </p:nvSpPr>
          <p:spPr>
            <a:xfrm>
              <a:off x="0" y="0"/>
              <a:ext cx="21336000" cy="2432050"/>
            </a:xfrm>
            <a:custGeom>
              <a:avLst/>
              <a:gdLst/>
              <a:ahLst/>
              <a:cxnLst/>
              <a:rect l="l" t="t" r="r" b="b"/>
              <a:pathLst>
                <a:path w="21336000" h="2432050">
                  <a:moveTo>
                    <a:pt x="0" y="0"/>
                  </a:moveTo>
                  <a:lnTo>
                    <a:pt x="21336000" y="0"/>
                  </a:lnTo>
                  <a:lnTo>
                    <a:pt x="21336000" y="2432050"/>
                  </a:lnTo>
                  <a:lnTo>
                    <a:pt x="0" y="2432050"/>
                  </a:lnTo>
                  <a:close/>
                </a:path>
              </a:pathLst>
            </a:custGeom>
            <a:blipFill>
              <a:blip r:embed="rId3">
                <a:alphaModFix amt="0"/>
              </a:blip>
              <a:stretch>
                <a:fillRect t="-120939" b="-120939"/>
              </a:stretch>
            </a:blipFill>
          </p:spPr>
        </p:sp>
        <p:sp>
          <p:nvSpPr>
            <p:cNvPr id="9" name="TextBox 9"/>
            <p:cNvSpPr txBox="1"/>
            <p:nvPr/>
          </p:nvSpPr>
          <p:spPr>
            <a:xfrm>
              <a:off x="0" y="9525"/>
              <a:ext cx="21336000" cy="2422525"/>
            </a:xfrm>
            <a:prstGeom prst="rect">
              <a:avLst/>
            </a:prstGeom>
          </p:spPr>
          <p:txBody>
            <a:bodyPr lIns="0" tIns="0" rIns="0" bIns="0" rtlCol="0" anchor="b"/>
            <a:lstStyle/>
            <a:p>
              <a:pPr algn="l">
                <a:lnSpc>
                  <a:spcPts val="5760"/>
                </a:lnSpc>
              </a:pPr>
              <a:r>
                <a:rPr lang="en-US" sz="4800" b="1">
                  <a:solidFill>
                    <a:srgbClr val="FF0000"/>
                  </a:solidFill>
                  <a:latin typeface="Verdana Bold" panose="020B0804030504040204"/>
                  <a:ea typeface="Verdana Bold" panose="020B0804030504040204"/>
                  <a:cs typeface="Verdana Bold" panose="020B0804030504040204"/>
                  <a:sym typeface="Verdana Bold" panose="020B0804030504040204"/>
                </a:rPr>
                <a:t>Module Description</a:t>
              </a:r>
            </a:p>
          </p:txBody>
        </p:sp>
      </p:grpSp>
      <p:sp>
        <p:nvSpPr>
          <p:cNvPr id="10" name="TextBox 10"/>
          <p:cNvSpPr txBox="1"/>
          <p:nvPr/>
        </p:nvSpPr>
        <p:spPr>
          <a:xfrm>
            <a:off x="13197840" y="9413557"/>
            <a:ext cx="3779520" cy="622935"/>
          </a:xfrm>
          <a:prstGeom prst="rect">
            <a:avLst/>
          </a:prstGeom>
        </p:spPr>
        <p:txBody>
          <a:bodyPr lIns="0" tIns="0" rIns="0" bIns="0" rtlCol="0" anchor="t">
            <a:spAutoFit/>
          </a:bodyPr>
          <a:lstStyle/>
          <a:p>
            <a:pPr algn="r">
              <a:lnSpc>
                <a:spcPts val="2160"/>
              </a:lnSpc>
            </a:pPr>
            <a:r>
              <a:rPr lang="en-US" sz="1800">
                <a:solidFill>
                  <a:srgbClr val="000000"/>
                </a:solidFill>
                <a:latin typeface="Verdana" panose="020B0604030504040204"/>
                <a:ea typeface="Verdana" panose="020B0604030504040204"/>
                <a:cs typeface="Verdana" panose="020B0604030504040204"/>
                <a:sym typeface="Verdana" panose="020B0604030504040204"/>
              </a:rPr>
              <a:t>8</a:t>
            </a:r>
          </a:p>
        </p:txBody>
      </p:sp>
      <p:sp>
        <p:nvSpPr>
          <p:cNvPr id="11" name="TextBox 11"/>
          <p:cNvSpPr txBox="1"/>
          <p:nvPr/>
        </p:nvSpPr>
        <p:spPr>
          <a:xfrm>
            <a:off x="5717315" y="2537362"/>
            <a:ext cx="6853370" cy="590550"/>
          </a:xfrm>
          <a:prstGeom prst="rect">
            <a:avLst/>
          </a:prstGeom>
        </p:spPr>
        <p:txBody>
          <a:bodyPr lIns="0" tIns="0" rIns="0" bIns="0" rtlCol="0" anchor="t">
            <a:spAutoFit/>
          </a:bodyPr>
          <a:lstStyle/>
          <a:p>
            <a:pPr algn="ctr">
              <a:lnSpc>
                <a:spcPts val="4440"/>
              </a:lnSpc>
              <a:spcBef>
                <a:spcPct val="0"/>
              </a:spcBef>
            </a:pPr>
            <a:r>
              <a:rPr lang="en-US" sz="3700" b="1" dirty="0">
                <a:solidFill>
                  <a:srgbClr val="7030A0"/>
                </a:solidFill>
                <a:latin typeface="Times New Roman Bold" panose="02020803070505020304"/>
                <a:ea typeface="Times New Roman Bold" panose="02020803070505020304"/>
                <a:cs typeface="Times New Roman Bold" panose="02020803070505020304"/>
                <a:sym typeface="Times New Roman Bold" panose="02020803070505020304"/>
              </a:rPr>
              <a:t>CURRENT IMPLEMENTATION</a:t>
            </a:r>
          </a:p>
        </p:txBody>
      </p:sp>
      <p:graphicFrame>
        <p:nvGraphicFramePr>
          <p:cNvPr id="14" name="Table 13">
            <a:extLst>
              <a:ext uri="{FF2B5EF4-FFF2-40B4-BE49-F238E27FC236}">
                <a16:creationId xmlns:a16="http://schemas.microsoft.com/office/drawing/2014/main" id="{59F2218C-9985-730C-6951-AD4EF6AB920A}"/>
              </a:ext>
            </a:extLst>
          </p:cNvPr>
          <p:cNvGraphicFramePr>
            <a:graphicFrameLocks noGrp="1"/>
          </p:cNvGraphicFramePr>
          <p:nvPr>
            <p:extLst>
              <p:ext uri="{D42A27DB-BD31-4B8C-83A1-F6EECF244321}">
                <p14:modId xmlns:p14="http://schemas.microsoft.com/office/powerpoint/2010/main" val="3783253471"/>
              </p:ext>
            </p:extLst>
          </p:nvPr>
        </p:nvGraphicFramePr>
        <p:xfrm>
          <a:off x="457200" y="3143530"/>
          <a:ext cx="17526000" cy="6096034"/>
        </p:xfrm>
        <a:graphic>
          <a:graphicData uri="http://schemas.openxmlformats.org/drawingml/2006/table">
            <a:tbl>
              <a:tblPr/>
              <a:tblGrid>
                <a:gridCol w="8508756">
                  <a:extLst>
                    <a:ext uri="{9D8B030D-6E8A-4147-A177-3AD203B41FA5}">
                      <a16:colId xmlns:a16="http://schemas.microsoft.com/office/drawing/2014/main" val="2434764098"/>
                    </a:ext>
                  </a:extLst>
                </a:gridCol>
                <a:gridCol w="9017244">
                  <a:extLst>
                    <a:ext uri="{9D8B030D-6E8A-4147-A177-3AD203B41FA5}">
                      <a16:colId xmlns:a16="http://schemas.microsoft.com/office/drawing/2014/main" val="817737375"/>
                    </a:ext>
                  </a:extLst>
                </a:gridCol>
              </a:tblGrid>
              <a:tr h="501549">
                <a:tc>
                  <a:txBody>
                    <a:bodyPr/>
                    <a:lstStyle/>
                    <a:p>
                      <a:pPr>
                        <a:buNone/>
                      </a:pPr>
                      <a:r>
                        <a:rPr lang="en-US" sz="2400" b="1"/>
                        <a:t>Stage</a:t>
                      </a:r>
                      <a:endParaRPr lang="en-US" sz="2400"/>
                    </a:p>
                  </a:txBody>
                  <a:tcPr marL="56575" marR="56575" marT="28287" marB="282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US" sz="2400" b="1"/>
                        <a:t>Current Implementation</a:t>
                      </a:r>
                      <a:endParaRPr lang="en-US" sz="2400"/>
                    </a:p>
                  </a:txBody>
                  <a:tcPr marL="56575" marR="56575" marT="28287" marB="282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305860264"/>
                  </a:ext>
                </a:extLst>
              </a:tr>
              <a:tr h="736421">
                <a:tc>
                  <a:txBody>
                    <a:bodyPr/>
                    <a:lstStyle/>
                    <a:p>
                      <a:pPr>
                        <a:buNone/>
                      </a:pPr>
                      <a:r>
                        <a:rPr lang="en-US" sz="2400" b="1"/>
                        <a:t>Data Collection</a:t>
                      </a:r>
                      <a:endParaRPr lang="en-US" sz="2400"/>
                    </a:p>
                  </a:txBody>
                  <a:tcPr marL="56575" marR="56575" marT="28287" marB="282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US" sz="2400"/>
                        <a:t>Collects security incident data from Kubernetes security observations and the synthetic </a:t>
                      </a:r>
                      <a:r>
                        <a:rPr lang="en-US" sz="2400">
                          <a:latin typeface="Courier New" panose="02070309020205020404" pitchFamily="49" charset="0"/>
                        </a:rPr>
                        <a:t>demo_incidents.csv</a:t>
                      </a:r>
                      <a:r>
                        <a:rPr lang="en-US" sz="2400"/>
                        <a:t> dataset for AI training.</a:t>
                      </a:r>
                    </a:p>
                  </a:txBody>
                  <a:tcPr marL="56575" marR="56575" marT="28287" marB="282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822978409"/>
                  </a:ext>
                </a:extLst>
              </a:tr>
              <a:tr h="727215">
                <a:tc>
                  <a:txBody>
                    <a:bodyPr/>
                    <a:lstStyle/>
                    <a:p>
                      <a:pPr>
                        <a:buNone/>
                      </a:pPr>
                      <a:r>
                        <a:rPr lang="en-US" sz="2400" b="1" dirty="0"/>
                        <a:t>Data Preprocessing</a:t>
                      </a:r>
                      <a:endParaRPr lang="en-US" sz="2400" dirty="0"/>
                    </a:p>
                  </a:txBody>
                  <a:tcPr marL="56575" marR="56575" marT="28287" marB="282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US" sz="2400"/>
                        <a:t>Validates and structures incident text and labels before passing the data to the AI pipeline.</a:t>
                      </a:r>
                    </a:p>
                  </a:txBody>
                  <a:tcPr marL="56575" marR="56575" marT="28287" marB="282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252848308"/>
                  </a:ext>
                </a:extLst>
              </a:tr>
              <a:tr h="727215">
                <a:tc>
                  <a:txBody>
                    <a:bodyPr/>
                    <a:lstStyle/>
                    <a:p>
                      <a:pPr>
                        <a:buNone/>
                      </a:pPr>
                      <a:r>
                        <a:rPr lang="en-US" sz="2400" b="1"/>
                        <a:t>AI Model Training</a:t>
                      </a:r>
                      <a:endParaRPr lang="en-US" sz="2400"/>
                    </a:p>
                  </a:txBody>
                  <a:tcPr marL="56575" marR="56575" marT="28287" marB="282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US" sz="2400"/>
                        <a:t>Uses </a:t>
                      </a:r>
                      <a:r>
                        <a:rPr lang="en-US" sz="2400" b="1"/>
                        <a:t>TF-IDF</a:t>
                      </a:r>
                      <a:r>
                        <a:rPr lang="en-US" sz="2400"/>
                        <a:t> to convert incident text into numerical features and </a:t>
                      </a:r>
                      <a:r>
                        <a:rPr lang="en-US" sz="2400" b="1"/>
                        <a:t>Logistic Regression</a:t>
                      </a:r>
                      <a:r>
                        <a:rPr lang="en-US" sz="2400"/>
                        <a:t> to classify incidents.</a:t>
                      </a:r>
                    </a:p>
                  </a:txBody>
                  <a:tcPr marL="56575" marR="56575" marT="28287" marB="282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535537060"/>
                  </a:ext>
                </a:extLst>
              </a:tr>
              <a:tr h="865921">
                <a:tc>
                  <a:txBody>
                    <a:bodyPr/>
                    <a:lstStyle/>
                    <a:p>
                      <a:pPr>
                        <a:buNone/>
                      </a:pPr>
                      <a:r>
                        <a:rPr lang="en-US" sz="2400" b="1"/>
                        <a:t>Model Evaluation</a:t>
                      </a:r>
                      <a:endParaRPr lang="en-US" sz="2400"/>
                    </a:p>
                  </a:txBody>
                  <a:tcPr marL="56575" marR="56575" marT="28287" marB="282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US" sz="2400"/>
                        <a:t>Splits the dataset into </a:t>
                      </a:r>
                      <a:r>
                        <a:rPr lang="en-US" sz="2400" b="1"/>
                        <a:t>75% training and 25% testing</a:t>
                      </a:r>
                      <a:r>
                        <a:rPr lang="en-US" sz="2400"/>
                        <a:t>, then evaluates the model using accuracy, precision, recall and F1-score.</a:t>
                      </a:r>
                    </a:p>
                  </a:txBody>
                  <a:tcPr marL="56575" marR="56575" marT="28287" marB="282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570359520"/>
                  </a:ext>
                </a:extLst>
              </a:tr>
              <a:tr h="727215">
                <a:tc>
                  <a:txBody>
                    <a:bodyPr/>
                    <a:lstStyle/>
                    <a:p>
                      <a:pPr>
                        <a:buNone/>
                      </a:pPr>
                      <a:r>
                        <a:rPr lang="en-US" sz="2400" b="1"/>
                        <a:t>AI Model Storage</a:t>
                      </a:r>
                      <a:endParaRPr lang="en-US" sz="2400"/>
                    </a:p>
                  </a:txBody>
                  <a:tcPr marL="56575" marR="56575" marT="28287" marB="282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US" sz="2400"/>
                        <a:t>The trained model is saved as </a:t>
                      </a:r>
                      <a:r>
                        <a:rPr lang="en-US" sz="2400">
                          <a:latin typeface="Courier New" panose="02070309020205020404" pitchFamily="49" charset="0"/>
                        </a:rPr>
                        <a:t>incident_classifier.joblib</a:t>
                      </a:r>
                      <a:r>
                        <a:rPr lang="en-US" sz="2400"/>
                        <a:t> using Joblib.</a:t>
                      </a:r>
                    </a:p>
                  </a:txBody>
                  <a:tcPr marL="56575" marR="56575" marT="28287" marB="282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272426989"/>
                  </a:ext>
                </a:extLst>
              </a:tr>
              <a:tr h="727215">
                <a:tc>
                  <a:txBody>
                    <a:bodyPr/>
                    <a:lstStyle/>
                    <a:p>
                      <a:pPr>
                        <a:buNone/>
                      </a:pPr>
                      <a:r>
                        <a:rPr lang="en-US" sz="2400" b="1"/>
                        <a:t>Incident Processing</a:t>
                      </a:r>
                      <a:endParaRPr lang="en-US" sz="2400"/>
                    </a:p>
                  </a:txBody>
                  <a:tcPr marL="56575" marR="56575" marT="28287" marB="282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US" sz="2400"/>
                        <a:t>New incident data is sent to the AI service, where the saved model predicts its classification and confidence.</a:t>
                      </a:r>
                    </a:p>
                  </a:txBody>
                  <a:tcPr marL="56575" marR="56575" marT="28287" marB="282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918398966"/>
                  </a:ext>
                </a:extLst>
              </a:tr>
              <a:tr h="727215">
                <a:tc>
                  <a:txBody>
                    <a:bodyPr/>
                    <a:lstStyle/>
                    <a:p>
                      <a:pPr>
                        <a:buNone/>
                      </a:pPr>
                      <a:r>
                        <a:rPr lang="en-US" sz="2400" b="1" dirty="0"/>
                        <a:t>Database Storage</a:t>
                      </a:r>
                      <a:endParaRPr lang="en-US" sz="2400" dirty="0"/>
                    </a:p>
                  </a:txBody>
                  <a:tcPr marL="56575" marR="56575" marT="28287" marB="282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US" sz="2400" dirty="0"/>
                        <a:t>Processed incident details, AI analysis and related security information are stored in the application database.</a:t>
                      </a:r>
                    </a:p>
                  </a:txBody>
                  <a:tcPr marL="56575" marR="56575" marT="28287" marB="2828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64889067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212056" y="2343150"/>
            <a:ext cx="15930562" cy="178594"/>
            <a:chOff x="0" y="0"/>
            <a:chExt cx="21240750" cy="238125"/>
          </a:xfrm>
        </p:grpSpPr>
        <p:sp>
          <p:nvSpPr>
            <p:cNvPr id="4" name="Freeform 4"/>
            <p:cNvSpPr/>
            <p:nvPr/>
          </p:nvSpPr>
          <p:spPr>
            <a:xfrm>
              <a:off x="0" y="0"/>
              <a:ext cx="12425807" cy="238125"/>
            </a:xfrm>
            <a:custGeom>
              <a:avLst/>
              <a:gdLst/>
              <a:ahLst/>
              <a:cxnLst/>
              <a:rect l="l" t="t" r="r" b="b"/>
              <a:pathLst>
                <a:path w="12425807" h="238125">
                  <a:moveTo>
                    <a:pt x="0" y="0"/>
                  </a:moveTo>
                  <a:lnTo>
                    <a:pt x="12425807" y="0"/>
                  </a:lnTo>
                  <a:lnTo>
                    <a:pt x="12425807" y="238125"/>
                  </a:lnTo>
                  <a:lnTo>
                    <a:pt x="0" y="238125"/>
                  </a:lnTo>
                  <a:lnTo>
                    <a:pt x="0" y="0"/>
                  </a:lnTo>
                  <a:close/>
                </a:path>
              </a:pathLst>
            </a:custGeom>
            <a:solidFill>
              <a:srgbClr val="CC0000"/>
            </a:solidFill>
            <a:ln w="14288" cap="sq">
              <a:solidFill>
                <a:srgbClr val="CC0000"/>
              </a:solidFill>
              <a:prstDash val="solid"/>
              <a:miter/>
            </a:ln>
          </p:spPr>
        </p:sp>
        <p:sp>
          <p:nvSpPr>
            <p:cNvPr id="5" name="Freeform 5"/>
            <p:cNvSpPr/>
            <p:nvPr/>
          </p:nvSpPr>
          <p:spPr>
            <a:xfrm>
              <a:off x="0" y="0"/>
              <a:ext cx="21240750" cy="0"/>
            </a:xfrm>
            <a:custGeom>
              <a:avLst/>
              <a:gdLst/>
              <a:ahLst/>
              <a:cxnLst/>
              <a:rect l="l" t="t" r="r" b="b"/>
              <a:pathLst>
                <a:path w="21240750">
                  <a:moveTo>
                    <a:pt x="0" y="0"/>
                  </a:moveTo>
                  <a:lnTo>
                    <a:pt x="21240750" y="0"/>
                  </a:lnTo>
                </a:path>
              </a:pathLst>
            </a:custGeom>
            <a:solidFill>
              <a:srgbClr val="CC0000"/>
            </a:solidFill>
            <a:ln w="14288" cap="sq">
              <a:solidFill>
                <a:srgbClr val="CC0000"/>
              </a:solidFill>
              <a:prstDash val="solid"/>
              <a:miter/>
            </a:ln>
          </p:spPr>
        </p:sp>
      </p:grpSp>
      <p:sp>
        <p:nvSpPr>
          <p:cNvPr id="6" name="AutoShape 6"/>
          <p:cNvSpPr/>
          <p:nvPr/>
        </p:nvSpPr>
        <p:spPr>
          <a:xfrm rot="-1020">
            <a:off x="1216819" y="9253538"/>
            <a:ext cx="15854362" cy="0"/>
          </a:xfrm>
          <a:prstGeom prst="line">
            <a:avLst/>
          </a:prstGeom>
          <a:ln w="9525" cap="rnd">
            <a:solidFill>
              <a:srgbClr val="CC0000"/>
            </a:solidFill>
            <a:prstDash val="solid"/>
            <a:headEnd type="none" w="sm" len="sm"/>
            <a:tailEnd type="none" w="sm" len="sm"/>
          </a:ln>
        </p:spPr>
      </p:sp>
      <p:grpSp>
        <p:nvGrpSpPr>
          <p:cNvPr id="7" name="Group 7"/>
          <p:cNvGrpSpPr/>
          <p:nvPr/>
        </p:nvGrpSpPr>
        <p:grpSpPr>
          <a:xfrm>
            <a:off x="1149353" y="457200"/>
            <a:ext cx="16002000" cy="1824038"/>
            <a:chOff x="0" y="0"/>
            <a:chExt cx="21336000" cy="2432050"/>
          </a:xfrm>
        </p:grpSpPr>
        <p:sp>
          <p:nvSpPr>
            <p:cNvPr id="8" name="Freeform 8"/>
            <p:cNvSpPr/>
            <p:nvPr/>
          </p:nvSpPr>
          <p:spPr>
            <a:xfrm>
              <a:off x="0" y="0"/>
              <a:ext cx="21336000" cy="2432050"/>
            </a:xfrm>
            <a:custGeom>
              <a:avLst/>
              <a:gdLst/>
              <a:ahLst/>
              <a:cxnLst/>
              <a:rect l="l" t="t" r="r" b="b"/>
              <a:pathLst>
                <a:path w="21336000" h="2432050">
                  <a:moveTo>
                    <a:pt x="0" y="0"/>
                  </a:moveTo>
                  <a:lnTo>
                    <a:pt x="21336000" y="0"/>
                  </a:lnTo>
                  <a:lnTo>
                    <a:pt x="21336000" y="2432050"/>
                  </a:lnTo>
                  <a:lnTo>
                    <a:pt x="0" y="2432050"/>
                  </a:lnTo>
                  <a:close/>
                </a:path>
              </a:pathLst>
            </a:custGeom>
            <a:blipFill>
              <a:blip r:embed="rId3">
                <a:alphaModFix amt="0"/>
              </a:blip>
              <a:stretch>
                <a:fillRect t="-120939" b="-120939"/>
              </a:stretch>
            </a:blipFill>
          </p:spPr>
        </p:sp>
        <p:sp>
          <p:nvSpPr>
            <p:cNvPr id="9" name="TextBox 9"/>
            <p:cNvSpPr txBox="1"/>
            <p:nvPr/>
          </p:nvSpPr>
          <p:spPr>
            <a:xfrm>
              <a:off x="0" y="9525"/>
              <a:ext cx="21336000" cy="2422525"/>
            </a:xfrm>
            <a:prstGeom prst="rect">
              <a:avLst/>
            </a:prstGeom>
          </p:spPr>
          <p:txBody>
            <a:bodyPr lIns="0" tIns="0" rIns="0" bIns="0" rtlCol="0" anchor="b"/>
            <a:lstStyle/>
            <a:p>
              <a:pPr algn="l">
                <a:lnSpc>
                  <a:spcPts val="5760"/>
                </a:lnSpc>
              </a:pPr>
              <a:r>
                <a:rPr lang="en-US" sz="4800" b="1">
                  <a:solidFill>
                    <a:srgbClr val="FF0000"/>
                  </a:solidFill>
                  <a:latin typeface="Verdana Bold" panose="020B0804030504040204"/>
                  <a:ea typeface="Verdana Bold" panose="020B0804030504040204"/>
                  <a:cs typeface="Verdana Bold" panose="020B0804030504040204"/>
                  <a:sym typeface="Verdana Bold" panose="020B0804030504040204"/>
                </a:rPr>
                <a:t>Phase I - Results &amp; Discussion</a:t>
              </a:r>
            </a:p>
          </p:txBody>
        </p:sp>
      </p:grpSp>
      <p:sp>
        <p:nvSpPr>
          <p:cNvPr id="10" name="TextBox 10"/>
          <p:cNvSpPr txBox="1"/>
          <p:nvPr/>
        </p:nvSpPr>
        <p:spPr>
          <a:xfrm>
            <a:off x="13197840" y="9413557"/>
            <a:ext cx="3779520" cy="622935"/>
          </a:xfrm>
          <a:prstGeom prst="rect">
            <a:avLst/>
          </a:prstGeom>
        </p:spPr>
        <p:txBody>
          <a:bodyPr lIns="0" tIns="0" rIns="0" bIns="0" rtlCol="0" anchor="t">
            <a:spAutoFit/>
          </a:bodyPr>
          <a:lstStyle/>
          <a:p>
            <a:pPr algn="r">
              <a:lnSpc>
                <a:spcPts val="2160"/>
              </a:lnSpc>
            </a:pPr>
            <a:r>
              <a:rPr lang="en-US" sz="1800">
                <a:solidFill>
                  <a:srgbClr val="000000"/>
                </a:solidFill>
                <a:latin typeface="Verdana" panose="020B0604030504040204"/>
                <a:ea typeface="Verdana" panose="020B0604030504040204"/>
                <a:cs typeface="Verdana" panose="020B0604030504040204"/>
                <a:sym typeface="Verdana" panose="020B0604030504040204"/>
              </a:rPr>
              <a:t>9</a:t>
            </a:r>
          </a:p>
        </p:txBody>
      </p:sp>
      <p:sp>
        <p:nvSpPr>
          <p:cNvPr id="11" name="TextBox 11"/>
          <p:cNvSpPr txBox="1"/>
          <p:nvPr/>
        </p:nvSpPr>
        <p:spPr>
          <a:xfrm>
            <a:off x="4800600" y="2558630"/>
            <a:ext cx="9517380" cy="588010"/>
          </a:xfrm>
          <a:prstGeom prst="rect">
            <a:avLst/>
          </a:prstGeom>
        </p:spPr>
        <p:txBody>
          <a:bodyPr lIns="0" tIns="0" rIns="0" bIns="0" rtlCol="0" anchor="t">
            <a:noAutofit/>
          </a:bodyPr>
          <a:lstStyle/>
          <a:p>
            <a:pPr algn="ctr">
              <a:lnSpc>
                <a:spcPts val="4440"/>
              </a:lnSpc>
              <a:spcBef>
                <a:spcPct val="0"/>
              </a:spcBef>
            </a:pPr>
            <a:r>
              <a:rPr lang="en-US" sz="3700" b="1" dirty="0">
                <a:solidFill>
                  <a:srgbClr val="7030A0"/>
                </a:solidFill>
                <a:latin typeface="Times New Roman Bold" panose="02020803070505020304"/>
                <a:ea typeface="Times New Roman Bold" panose="02020803070505020304"/>
                <a:cs typeface="Times New Roman Bold" panose="02020803070505020304"/>
                <a:sym typeface="Times New Roman Bold" panose="02020803070505020304"/>
              </a:rPr>
              <a:t>FUTURE IMPLEMENTATION</a:t>
            </a:r>
          </a:p>
        </p:txBody>
      </p:sp>
      <p:graphicFrame>
        <p:nvGraphicFramePr>
          <p:cNvPr id="13" name="Table 12">
            <a:extLst>
              <a:ext uri="{FF2B5EF4-FFF2-40B4-BE49-F238E27FC236}">
                <a16:creationId xmlns:a16="http://schemas.microsoft.com/office/drawing/2014/main" id="{27C4EBC2-063F-9B3A-A4C6-A8FD45268807}"/>
              </a:ext>
            </a:extLst>
          </p:cNvPr>
          <p:cNvGraphicFramePr>
            <a:graphicFrameLocks noGrp="1"/>
          </p:cNvGraphicFramePr>
          <p:nvPr>
            <p:extLst>
              <p:ext uri="{D42A27DB-BD31-4B8C-83A1-F6EECF244321}">
                <p14:modId xmlns:p14="http://schemas.microsoft.com/office/powerpoint/2010/main" val="825320712"/>
              </p:ext>
            </p:extLst>
          </p:nvPr>
        </p:nvGraphicFramePr>
        <p:xfrm>
          <a:off x="685800" y="3086100"/>
          <a:ext cx="16992600" cy="5927202"/>
        </p:xfrm>
        <a:graphic>
          <a:graphicData uri="http://schemas.openxmlformats.org/drawingml/2006/table">
            <a:tbl>
              <a:tblPr/>
              <a:tblGrid>
                <a:gridCol w="8496300">
                  <a:extLst>
                    <a:ext uri="{9D8B030D-6E8A-4147-A177-3AD203B41FA5}">
                      <a16:colId xmlns:a16="http://schemas.microsoft.com/office/drawing/2014/main" val="1724172081"/>
                    </a:ext>
                  </a:extLst>
                </a:gridCol>
                <a:gridCol w="8496300">
                  <a:extLst>
                    <a:ext uri="{9D8B030D-6E8A-4147-A177-3AD203B41FA5}">
                      <a16:colId xmlns:a16="http://schemas.microsoft.com/office/drawing/2014/main" val="4152371225"/>
                    </a:ext>
                  </a:extLst>
                </a:gridCol>
              </a:tblGrid>
              <a:tr h="647268">
                <a:tc>
                  <a:txBody>
                    <a:bodyPr/>
                    <a:lstStyle/>
                    <a:p>
                      <a:pPr>
                        <a:buNone/>
                      </a:pPr>
                      <a:r>
                        <a:rPr lang="en-US" sz="2400" b="1">
                          <a:latin typeface="Times New Roman" panose="02020603050405020304" pitchFamily="18" charset="0"/>
                          <a:cs typeface="Times New Roman" panose="02020603050405020304" pitchFamily="18" charset="0"/>
                        </a:rPr>
                        <a:t>Area</a:t>
                      </a:r>
                      <a:endParaRPr lang="en-US" sz="2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US" sz="2400" b="1" dirty="0">
                          <a:latin typeface="Times New Roman" panose="02020603050405020304" pitchFamily="18" charset="0"/>
                          <a:cs typeface="Times New Roman" panose="02020603050405020304" pitchFamily="18" charset="0"/>
                        </a:rPr>
                        <a:t>Future Enhancement</a:t>
                      </a:r>
                      <a:endParaRPr 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361582137"/>
                  </a:ext>
                </a:extLst>
              </a:tr>
              <a:tr h="818627">
                <a:tc>
                  <a:txBody>
                    <a:bodyPr/>
                    <a:lstStyle/>
                    <a:p>
                      <a:pPr>
                        <a:buNone/>
                      </a:pPr>
                      <a:r>
                        <a:rPr lang="en-US" sz="2400" b="1" dirty="0">
                          <a:latin typeface="Times New Roman" panose="02020603050405020304" pitchFamily="18" charset="0"/>
                          <a:cs typeface="Times New Roman" panose="02020603050405020304" pitchFamily="18" charset="0"/>
                        </a:rPr>
                        <a:t>Real-Time Monitoring</a:t>
                      </a:r>
                      <a:endParaRPr 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US" sz="2400">
                          <a:latin typeface="Times New Roman" panose="02020603050405020304" pitchFamily="18" charset="0"/>
                          <a:cs typeface="Times New Roman" panose="02020603050405020304" pitchFamily="18" charset="0"/>
                        </a:rPr>
                        <a:t>Integrate with live Kubernetes clusters and enterprise security data sources.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653162509"/>
                  </a:ext>
                </a:extLst>
              </a:tr>
              <a:tr h="1169467">
                <a:tc>
                  <a:txBody>
                    <a:bodyPr/>
                    <a:lstStyle/>
                    <a:p>
                      <a:pPr>
                        <a:buNone/>
                      </a:pPr>
                      <a:r>
                        <a:rPr lang="en-US" sz="2400" b="1" dirty="0">
                          <a:latin typeface="Times New Roman" panose="02020603050405020304" pitchFamily="18" charset="0"/>
                          <a:cs typeface="Times New Roman" panose="02020603050405020304" pitchFamily="18" charset="0"/>
                        </a:rPr>
                        <a:t>AI Enhancement</a:t>
                      </a:r>
                      <a:endParaRPr 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US" sz="2400">
                          <a:latin typeface="Times New Roman" panose="02020603050405020304" pitchFamily="18" charset="0"/>
                          <a:cs typeface="Times New Roman" panose="02020603050405020304" pitchFamily="18" charset="0"/>
                        </a:rPr>
                        <a:t>Use larger real-world cybersecurity datasets and improve model accuracy and confidence calibration.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105386752"/>
                  </a:ext>
                </a:extLst>
              </a:tr>
              <a:tr h="818627">
                <a:tc>
                  <a:txBody>
                    <a:bodyPr/>
                    <a:lstStyle/>
                    <a:p>
                      <a:pPr>
                        <a:buNone/>
                      </a:pPr>
                      <a:r>
                        <a:rPr lang="en-US" sz="2400" b="1">
                          <a:latin typeface="Times New Roman" panose="02020603050405020304" pitchFamily="18" charset="0"/>
                          <a:cs typeface="Times New Roman" panose="02020603050405020304" pitchFamily="18" charset="0"/>
                        </a:rPr>
                        <a:t>Post-Quantum Security</a:t>
                      </a:r>
                      <a:endParaRPr lang="en-US" sz="2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US" sz="2400">
                          <a:latin typeface="Times New Roman" panose="02020603050405020304" pitchFamily="18" charset="0"/>
                          <a:cs typeface="Times New Roman" panose="02020603050405020304" pitchFamily="18" charset="0"/>
                        </a:rPr>
                        <a:t>Implement production-grade PQC key management and secure key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016026139"/>
                  </a:ext>
                </a:extLst>
              </a:tr>
              <a:tr h="818627">
                <a:tc>
                  <a:txBody>
                    <a:bodyPr/>
                    <a:lstStyle/>
                    <a:p>
                      <a:pPr>
                        <a:buNone/>
                      </a:pPr>
                      <a:r>
                        <a:rPr lang="en-US" sz="2400" b="1">
                          <a:latin typeface="Times New Roman" panose="02020603050405020304" pitchFamily="18" charset="0"/>
                          <a:cs typeface="Times New Roman" panose="02020603050405020304" pitchFamily="18" charset="0"/>
                        </a:rPr>
                        <a:t>Blockchain</a:t>
                      </a:r>
                      <a:endParaRPr lang="en-US" sz="2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US" sz="2400">
                          <a:latin typeface="Times New Roman" panose="02020603050405020304" pitchFamily="18" charset="0"/>
                          <a:cs typeface="Times New Roman" panose="02020603050405020304" pitchFamily="18" charset="0"/>
                        </a:rPr>
                        <a:t>Deploy the audit layer using a live Hyperledger Fabric network.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130485927"/>
                  </a:ext>
                </a:extLst>
              </a:tr>
              <a:tr h="818627">
                <a:tc>
                  <a:txBody>
                    <a:bodyPr/>
                    <a:lstStyle/>
                    <a:p>
                      <a:pPr>
                        <a:buNone/>
                      </a:pPr>
                      <a:r>
                        <a:rPr lang="en-US" sz="2400" b="1">
                          <a:latin typeface="Times New Roman" panose="02020603050405020304" pitchFamily="18" charset="0"/>
                          <a:cs typeface="Times New Roman" panose="02020603050405020304" pitchFamily="18" charset="0"/>
                        </a:rPr>
                        <a:t>Automated Response</a:t>
                      </a:r>
                      <a:endParaRPr lang="en-US" sz="2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US" sz="2400">
                          <a:latin typeface="Times New Roman" panose="02020603050405020304" pitchFamily="18" charset="0"/>
                          <a:cs typeface="Times New Roman" panose="02020603050405020304" pitchFamily="18" charset="0"/>
                        </a:rPr>
                        <a:t>Enable secure real-world remediation with additional policy and safety controls.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786650759"/>
                  </a:ext>
                </a:extLst>
              </a:tr>
              <a:tr h="818627">
                <a:tc>
                  <a:txBody>
                    <a:bodyPr/>
                    <a:lstStyle/>
                    <a:p>
                      <a:pPr>
                        <a:buNone/>
                      </a:pPr>
                      <a:r>
                        <a:rPr lang="en-US" sz="2400" b="1">
                          <a:latin typeface="Times New Roman" panose="02020603050405020304" pitchFamily="18" charset="0"/>
                          <a:cs typeface="Times New Roman" panose="02020603050405020304" pitchFamily="18" charset="0"/>
                        </a:rPr>
                        <a:t>Scalability</a:t>
                      </a:r>
                      <a:endParaRPr lang="en-US" sz="2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US" sz="2400" dirty="0">
                          <a:latin typeface="Times New Roman" panose="02020603050405020304" pitchFamily="18" charset="0"/>
                          <a:cs typeface="Times New Roman" panose="02020603050405020304" pitchFamily="18" charset="0"/>
                        </a:rPr>
                        <a:t>Extend the framework for large-scale enterprise and cloud environments.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30482310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dirty="0"/>
          </a:p>
        </p:txBody>
      </p:sp>
      <p:grpSp>
        <p:nvGrpSpPr>
          <p:cNvPr id="3" name="Group 3"/>
          <p:cNvGrpSpPr/>
          <p:nvPr/>
        </p:nvGrpSpPr>
        <p:grpSpPr>
          <a:xfrm>
            <a:off x="1212056" y="2343150"/>
            <a:ext cx="15930562" cy="178594"/>
            <a:chOff x="0" y="0"/>
            <a:chExt cx="21240750" cy="238125"/>
          </a:xfrm>
        </p:grpSpPr>
        <p:sp>
          <p:nvSpPr>
            <p:cNvPr id="4" name="Freeform 4"/>
            <p:cNvSpPr/>
            <p:nvPr/>
          </p:nvSpPr>
          <p:spPr>
            <a:xfrm>
              <a:off x="0" y="0"/>
              <a:ext cx="12425807" cy="238125"/>
            </a:xfrm>
            <a:custGeom>
              <a:avLst/>
              <a:gdLst/>
              <a:ahLst/>
              <a:cxnLst/>
              <a:rect l="l" t="t" r="r" b="b"/>
              <a:pathLst>
                <a:path w="12425807" h="238125">
                  <a:moveTo>
                    <a:pt x="0" y="0"/>
                  </a:moveTo>
                  <a:lnTo>
                    <a:pt x="12425807" y="0"/>
                  </a:lnTo>
                  <a:lnTo>
                    <a:pt x="12425807" y="238125"/>
                  </a:lnTo>
                  <a:lnTo>
                    <a:pt x="0" y="238125"/>
                  </a:lnTo>
                  <a:lnTo>
                    <a:pt x="0" y="0"/>
                  </a:lnTo>
                  <a:close/>
                </a:path>
              </a:pathLst>
            </a:custGeom>
            <a:solidFill>
              <a:srgbClr val="CC0000"/>
            </a:solidFill>
            <a:ln w="14288" cap="sq">
              <a:solidFill>
                <a:srgbClr val="CC0000"/>
              </a:solidFill>
              <a:prstDash val="solid"/>
              <a:miter/>
            </a:ln>
          </p:spPr>
        </p:sp>
        <p:sp>
          <p:nvSpPr>
            <p:cNvPr id="5" name="Freeform 5"/>
            <p:cNvSpPr/>
            <p:nvPr/>
          </p:nvSpPr>
          <p:spPr>
            <a:xfrm>
              <a:off x="0" y="0"/>
              <a:ext cx="21240750" cy="0"/>
            </a:xfrm>
            <a:custGeom>
              <a:avLst/>
              <a:gdLst/>
              <a:ahLst/>
              <a:cxnLst/>
              <a:rect l="l" t="t" r="r" b="b"/>
              <a:pathLst>
                <a:path w="21240750">
                  <a:moveTo>
                    <a:pt x="0" y="0"/>
                  </a:moveTo>
                  <a:lnTo>
                    <a:pt x="21240750" y="0"/>
                  </a:lnTo>
                </a:path>
              </a:pathLst>
            </a:custGeom>
            <a:solidFill>
              <a:srgbClr val="CC0000"/>
            </a:solidFill>
            <a:ln w="14288" cap="sq">
              <a:solidFill>
                <a:srgbClr val="CC0000"/>
              </a:solidFill>
              <a:prstDash val="solid"/>
              <a:miter/>
            </a:ln>
          </p:spPr>
        </p:sp>
      </p:grpSp>
      <p:sp>
        <p:nvSpPr>
          <p:cNvPr id="6" name="AutoShape 6"/>
          <p:cNvSpPr/>
          <p:nvPr/>
        </p:nvSpPr>
        <p:spPr>
          <a:xfrm rot="-1020">
            <a:off x="1216819" y="9253538"/>
            <a:ext cx="15854362" cy="0"/>
          </a:xfrm>
          <a:prstGeom prst="line">
            <a:avLst/>
          </a:prstGeom>
          <a:ln w="9525" cap="rnd">
            <a:solidFill>
              <a:srgbClr val="CC0000"/>
            </a:solidFill>
            <a:prstDash val="solid"/>
            <a:headEnd type="none" w="sm" len="sm"/>
            <a:tailEnd type="none" w="sm" len="sm"/>
          </a:ln>
        </p:spPr>
      </p:sp>
      <p:grpSp>
        <p:nvGrpSpPr>
          <p:cNvPr id="7" name="Group 7"/>
          <p:cNvGrpSpPr/>
          <p:nvPr/>
        </p:nvGrpSpPr>
        <p:grpSpPr>
          <a:xfrm>
            <a:off x="1149353" y="457200"/>
            <a:ext cx="16002000" cy="1824038"/>
            <a:chOff x="0" y="0"/>
            <a:chExt cx="21336000" cy="2432050"/>
          </a:xfrm>
        </p:grpSpPr>
        <p:sp>
          <p:nvSpPr>
            <p:cNvPr id="8" name="Freeform 8"/>
            <p:cNvSpPr/>
            <p:nvPr/>
          </p:nvSpPr>
          <p:spPr>
            <a:xfrm>
              <a:off x="0" y="0"/>
              <a:ext cx="21336000" cy="2432050"/>
            </a:xfrm>
            <a:custGeom>
              <a:avLst/>
              <a:gdLst/>
              <a:ahLst/>
              <a:cxnLst/>
              <a:rect l="l" t="t" r="r" b="b"/>
              <a:pathLst>
                <a:path w="21336000" h="2432050">
                  <a:moveTo>
                    <a:pt x="0" y="0"/>
                  </a:moveTo>
                  <a:lnTo>
                    <a:pt x="21336000" y="0"/>
                  </a:lnTo>
                  <a:lnTo>
                    <a:pt x="21336000" y="2432050"/>
                  </a:lnTo>
                  <a:lnTo>
                    <a:pt x="0" y="2432050"/>
                  </a:lnTo>
                  <a:close/>
                </a:path>
              </a:pathLst>
            </a:custGeom>
            <a:blipFill>
              <a:blip r:embed="rId3">
                <a:alphaModFix amt="0"/>
              </a:blip>
              <a:stretch>
                <a:fillRect t="-120939" b="-120939"/>
              </a:stretch>
            </a:blipFill>
          </p:spPr>
        </p:sp>
        <p:sp>
          <p:nvSpPr>
            <p:cNvPr id="9" name="TextBox 9"/>
            <p:cNvSpPr txBox="1"/>
            <p:nvPr/>
          </p:nvSpPr>
          <p:spPr>
            <a:xfrm>
              <a:off x="0" y="9525"/>
              <a:ext cx="21336000" cy="2422525"/>
            </a:xfrm>
            <a:prstGeom prst="rect">
              <a:avLst/>
            </a:prstGeom>
          </p:spPr>
          <p:txBody>
            <a:bodyPr lIns="0" tIns="0" rIns="0" bIns="0" rtlCol="0" anchor="b"/>
            <a:lstStyle/>
            <a:p>
              <a:pPr algn="l">
                <a:lnSpc>
                  <a:spcPts val="5760"/>
                </a:lnSpc>
              </a:pPr>
              <a:r>
                <a:rPr lang="en-US" sz="4800" b="1">
                  <a:solidFill>
                    <a:srgbClr val="FF0000"/>
                  </a:solidFill>
                  <a:latin typeface="Verdana Bold" panose="020B0804030504040204"/>
                  <a:ea typeface="Verdana Bold" panose="020B0804030504040204"/>
                  <a:cs typeface="Verdana Bold" panose="020B0804030504040204"/>
                  <a:sym typeface="Verdana Bold" panose="020B0804030504040204"/>
                </a:rPr>
                <a:t>Conclusion</a:t>
              </a:r>
            </a:p>
          </p:txBody>
        </p:sp>
      </p:grpSp>
      <p:sp>
        <p:nvSpPr>
          <p:cNvPr id="10" name="TextBox 10"/>
          <p:cNvSpPr txBox="1"/>
          <p:nvPr/>
        </p:nvSpPr>
        <p:spPr>
          <a:xfrm>
            <a:off x="1291267" y="2609008"/>
            <a:ext cx="15819120" cy="7558159"/>
          </a:xfrm>
          <a:prstGeom prst="rect">
            <a:avLst/>
          </a:prstGeom>
        </p:spPr>
        <p:txBody>
          <a:bodyPr lIns="0" tIns="0" rIns="0" bIns="0" rtlCol="0" anchor="t">
            <a:spAutoFit/>
          </a:bodyPr>
          <a:lstStyle/>
          <a:p>
            <a:pPr>
              <a:lnSpc>
                <a:spcPts val="2880"/>
              </a:lnSpc>
            </a:pPr>
            <a:r>
              <a:rPr lang="en-US" sz="2400" b="1" dirty="0">
                <a:solidFill>
                  <a:srgbClr val="7030A0"/>
                </a:solidFill>
                <a:latin typeface="Verdana Bold" panose="020B0804030504040204"/>
                <a:ea typeface="Verdana Bold" panose="020B0804030504040204"/>
                <a:cs typeface="Verdana Bold" panose="020B0804030504040204"/>
                <a:sym typeface="Verdana Bold" panose="020B0804030504040204"/>
              </a:rPr>
              <a:t>CONCLUSION</a:t>
            </a:r>
            <a:r>
              <a:rPr lang="en-US" b="1" dirty="0">
                <a:solidFill>
                  <a:srgbClr val="7030A0"/>
                </a:solidFill>
                <a:latin typeface="Verdana Bold" panose="020B0804030504040204"/>
                <a:ea typeface="Verdana Bold" panose="020B0804030504040204"/>
                <a:cs typeface="Verdana Bold" panose="020B0804030504040204"/>
                <a:sym typeface="Verdana Bold" panose="020B0804030504040204"/>
              </a:rPr>
              <a:t> </a:t>
            </a:r>
            <a:endParaRPr dirty="0"/>
          </a:p>
          <a:p>
            <a:pPr marL="259080" lvl="1">
              <a:lnSpc>
                <a:spcPct val="150000"/>
              </a:lnSpc>
            </a:pPr>
            <a:r>
              <a:rPr lang="en-US" sz="2400" b="1" dirty="0" err="1">
                <a:latin typeface="Times New Roman" panose="02020603050405020304" pitchFamily="18" charset="0"/>
                <a:cs typeface="Times New Roman" panose="02020603050405020304" pitchFamily="18" charset="0"/>
              </a:rPr>
              <a:t>QuantumSHIELD</a:t>
            </a:r>
            <a:r>
              <a:rPr lang="en-US" sz="2400" dirty="0">
                <a:latin typeface="Times New Roman" panose="02020603050405020304" pitchFamily="18" charset="0"/>
                <a:cs typeface="Times New Roman" panose="02020603050405020304" pitchFamily="18" charset="0"/>
              </a:rPr>
              <a:t> provides an integrated framework for enterprise security by combining AI-based incident analysis, Kubernetes security monitoring, post-quantum cryptography, blockchain auditing, and controlled response. The current implementation demonstrates the complete workflow from incident processing and AI classification to cryptographic protection, database storage, approval, and audit verification. The system provides a foundation for strengthening enterprise security against current cyber threats and future quantum-related </a:t>
            </a:r>
            <a:r>
              <a:rPr lang="en-US" sz="2400" dirty="0" err="1">
                <a:latin typeface="Times New Roman" panose="02020603050405020304" pitchFamily="18" charset="0"/>
                <a:cs typeface="Times New Roman" panose="02020603050405020304" pitchFamily="18" charset="0"/>
              </a:rPr>
              <a:t>risks.</a:t>
            </a:r>
            <a:r>
              <a:rPr lang="en-US" sz="2400" dirty="0" err="1">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Improve</a:t>
            </a:r>
            <a:r>
              <a:rPr lang="en-US" sz="2400"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classification performance.</a:t>
            </a:r>
          </a:p>
          <a:p>
            <a:pPr marL="259080" lvl="1">
              <a:lnSpc>
                <a:spcPct val="150000"/>
              </a:lnSpc>
            </a:pPr>
            <a:r>
              <a:rPr lang="en-US" sz="2400" b="1" dirty="0">
                <a:solidFill>
                  <a:srgbClr val="7030A0"/>
                </a:solidFill>
                <a:latin typeface="Verdana Bold" panose="020B0804030504040204"/>
                <a:ea typeface="Verdana Bold" panose="020B0804030504040204"/>
                <a:cs typeface="Verdana Bold" panose="020B0804030504040204"/>
                <a:sym typeface="Verdana Bold" panose="020B0804030504040204"/>
              </a:rPr>
              <a:t>FUTURE WORKS  </a:t>
            </a:r>
            <a:endParaRPr lang="en-US" sz="2400"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Integrate </a:t>
            </a:r>
            <a:r>
              <a:rPr lang="en-US" altLang="en-US" sz="2400" b="1" dirty="0">
                <a:latin typeface="Times New Roman" panose="02020603050405020304" pitchFamily="18" charset="0"/>
                <a:cs typeface="Times New Roman" panose="02020603050405020304" pitchFamily="18" charset="0"/>
              </a:rPr>
              <a:t>real-time Kubernetes monitoring</a:t>
            </a:r>
            <a:r>
              <a:rPr lang="en-US" altLang="en-US" sz="2400" dirty="0">
                <a:latin typeface="Times New Roman" panose="02020603050405020304" pitchFamily="18" charset="0"/>
                <a:cs typeface="Times New Roman" panose="02020603050405020304" pitchFamily="18" charset="0"/>
              </a:rPr>
              <a:t> and enterprise security data sources.</a:t>
            </a: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Use </a:t>
            </a:r>
            <a:r>
              <a:rPr lang="en-US" altLang="en-US" sz="2400" b="1" dirty="0">
                <a:latin typeface="Times New Roman" panose="02020603050405020304" pitchFamily="18" charset="0"/>
                <a:cs typeface="Times New Roman" panose="02020603050405020304" pitchFamily="18" charset="0"/>
              </a:rPr>
              <a:t>larger real-world cybersecurity datasets</a:t>
            </a:r>
            <a:r>
              <a:rPr lang="en-US" altLang="en-US" sz="2400" dirty="0">
                <a:latin typeface="Times New Roman" panose="02020603050405020304" pitchFamily="18" charset="0"/>
                <a:cs typeface="Times New Roman" panose="02020603050405020304" pitchFamily="18" charset="0"/>
              </a:rPr>
              <a:t> to improve AI performance.</a:t>
            </a: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Implement </a:t>
            </a:r>
            <a:r>
              <a:rPr lang="en-US" altLang="en-US" sz="2400" b="1" dirty="0">
                <a:latin typeface="Times New Roman" panose="02020603050405020304" pitchFamily="18" charset="0"/>
                <a:cs typeface="Times New Roman" panose="02020603050405020304" pitchFamily="18" charset="0"/>
              </a:rPr>
              <a:t>calibrated AI confidence and advanced threat detection</a:t>
            </a:r>
            <a:r>
              <a:rPr lang="en-US" altLang="en-US" sz="2400" dirty="0">
                <a:latin typeface="Times New Roman" panose="02020603050405020304" pitchFamily="18" charset="0"/>
                <a:cs typeface="Times New Roman" panose="02020603050405020304" pitchFamily="18" charset="0"/>
              </a:rPr>
              <a:t>.</a:t>
            </a: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Deploy </a:t>
            </a:r>
            <a:r>
              <a:rPr lang="en-US" altLang="en-US" sz="2400" b="1" dirty="0">
                <a:latin typeface="Times New Roman" panose="02020603050405020304" pitchFamily="18" charset="0"/>
                <a:cs typeface="Times New Roman" panose="02020603050405020304" pitchFamily="18" charset="0"/>
              </a:rPr>
              <a:t>Hyperledger Fabric</a:t>
            </a:r>
            <a:r>
              <a:rPr lang="en-US" altLang="en-US" sz="2400" dirty="0">
                <a:latin typeface="Times New Roman" panose="02020603050405020304" pitchFamily="18" charset="0"/>
                <a:cs typeface="Times New Roman" panose="02020603050405020304" pitchFamily="18" charset="0"/>
              </a:rPr>
              <a:t> as a live blockchain network.</a:t>
            </a: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Implement production-grade </a:t>
            </a:r>
            <a:r>
              <a:rPr lang="en-US" altLang="en-US" sz="2400" b="1" dirty="0">
                <a:latin typeface="Times New Roman" panose="02020603050405020304" pitchFamily="18" charset="0"/>
                <a:cs typeface="Times New Roman" panose="02020603050405020304" pitchFamily="18" charset="0"/>
              </a:rPr>
              <a:t>PQC key management and secure key storage</a:t>
            </a:r>
            <a:r>
              <a:rPr lang="en-US" altLang="en-US" sz="2400" dirty="0">
                <a:latin typeface="Times New Roman" panose="02020603050405020304" pitchFamily="18" charset="0"/>
                <a:cs typeface="Times New Roman" panose="02020603050405020304" pitchFamily="18" charset="0"/>
              </a:rPr>
              <a:t>.</a:t>
            </a: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Extend controlled response for </a:t>
            </a:r>
            <a:r>
              <a:rPr lang="en-US" altLang="en-US" sz="2400" b="1" dirty="0">
                <a:latin typeface="Times New Roman" panose="02020603050405020304" pitchFamily="18" charset="0"/>
                <a:cs typeface="Times New Roman" panose="02020603050405020304" pitchFamily="18" charset="0"/>
              </a:rPr>
              <a:t>secure real-world remediation</a:t>
            </a:r>
            <a:r>
              <a:rPr lang="en-US" altLang="en-US" sz="2400" dirty="0">
                <a:latin typeface="Times New Roman" panose="02020603050405020304" pitchFamily="18" charset="0"/>
                <a:cs typeface="Times New Roman" panose="02020603050405020304" pitchFamily="18" charset="0"/>
              </a:rPr>
              <a:t>.</a:t>
            </a: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Improve scalability for </a:t>
            </a:r>
            <a:r>
              <a:rPr lang="en-US" altLang="en-US" sz="2400" b="1" dirty="0">
                <a:latin typeface="Times New Roman" panose="02020603050405020304" pitchFamily="18" charset="0"/>
                <a:cs typeface="Times New Roman" panose="02020603050405020304" pitchFamily="18" charset="0"/>
              </a:rPr>
              <a:t>large enterprise environments</a:t>
            </a:r>
            <a:r>
              <a:rPr lang="en-US" altLang="en-US" sz="2400" dirty="0">
                <a:latin typeface="Times New Roman" panose="02020603050405020304" pitchFamily="18" charset="0"/>
                <a:cs typeface="Times New Roman" panose="02020603050405020304" pitchFamily="18" charset="0"/>
              </a:rPr>
              <a:t>. </a:t>
            </a:r>
          </a:p>
          <a:p>
            <a:pPr marL="259080" lvl="1">
              <a:lnSpc>
                <a:spcPct val="150000"/>
              </a:lnSpc>
            </a:pPr>
            <a:endParaRPr lang="en-US" sz="2400"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gn="l">
              <a:lnSpc>
                <a:spcPts val="2880"/>
              </a:lnSpc>
            </a:pPr>
            <a:endParaRPr lang="en-US"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880"/>
              </a:lnSpc>
            </a:pPr>
            <a:endParaRPr lang="en-US"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 name="TextBox 11"/>
          <p:cNvSpPr txBox="1"/>
          <p:nvPr/>
        </p:nvSpPr>
        <p:spPr>
          <a:xfrm>
            <a:off x="13197840" y="9413557"/>
            <a:ext cx="3779520" cy="622935"/>
          </a:xfrm>
          <a:prstGeom prst="rect">
            <a:avLst/>
          </a:prstGeom>
        </p:spPr>
        <p:txBody>
          <a:bodyPr lIns="0" tIns="0" rIns="0" bIns="0" rtlCol="0" anchor="t">
            <a:spAutoFit/>
          </a:bodyPr>
          <a:lstStyle/>
          <a:p>
            <a:pPr algn="r">
              <a:lnSpc>
                <a:spcPts val="2160"/>
              </a:lnSpc>
            </a:pPr>
            <a:r>
              <a:rPr lang="en-US" sz="1800">
                <a:solidFill>
                  <a:srgbClr val="000000"/>
                </a:solidFill>
                <a:latin typeface="Verdana" panose="020B0604030504040204"/>
                <a:ea typeface="Verdana" panose="020B0604030504040204"/>
                <a:cs typeface="Verdana" panose="020B0604030504040204"/>
                <a:sym typeface="Verdana" panose="020B0604030504040204"/>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337"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dirty="0"/>
          </a:p>
        </p:txBody>
      </p:sp>
      <p:grpSp>
        <p:nvGrpSpPr>
          <p:cNvPr id="3" name="Group 3"/>
          <p:cNvGrpSpPr/>
          <p:nvPr/>
        </p:nvGrpSpPr>
        <p:grpSpPr>
          <a:xfrm>
            <a:off x="1212056" y="2343150"/>
            <a:ext cx="15930562" cy="178594"/>
            <a:chOff x="0" y="0"/>
            <a:chExt cx="21240750" cy="238125"/>
          </a:xfrm>
        </p:grpSpPr>
        <p:sp>
          <p:nvSpPr>
            <p:cNvPr id="4" name="Freeform 4"/>
            <p:cNvSpPr/>
            <p:nvPr/>
          </p:nvSpPr>
          <p:spPr>
            <a:xfrm>
              <a:off x="0" y="0"/>
              <a:ext cx="12425807" cy="238125"/>
            </a:xfrm>
            <a:custGeom>
              <a:avLst/>
              <a:gdLst/>
              <a:ahLst/>
              <a:cxnLst/>
              <a:rect l="l" t="t" r="r" b="b"/>
              <a:pathLst>
                <a:path w="12425807" h="238125">
                  <a:moveTo>
                    <a:pt x="0" y="0"/>
                  </a:moveTo>
                  <a:lnTo>
                    <a:pt x="12425807" y="0"/>
                  </a:lnTo>
                  <a:lnTo>
                    <a:pt x="12425807" y="238125"/>
                  </a:lnTo>
                  <a:lnTo>
                    <a:pt x="0" y="238125"/>
                  </a:lnTo>
                  <a:lnTo>
                    <a:pt x="0" y="0"/>
                  </a:lnTo>
                  <a:close/>
                </a:path>
              </a:pathLst>
            </a:custGeom>
            <a:solidFill>
              <a:srgbClr val="CC0000"/>
            </a:solidFill>
            <a:ln w="14288" cap="sq">
              <a:solidFill>
                <a:srgbClr val="CC0000"/>
              </a:solidFill>
              <a:prstDash val="solid"/>
              <a:miter/>
            </a:ln>
          </p:spPr>
        </p:sp>
        <p:sp>
          <p:nvSpPr>
            <p:cNvPr id="5" name="Freeform 5"/>
            <p:cNvSpPr/>
            <p:nvPr/>
          </p:nvSpPr>
          <p:spPr>
            <a:xfrm>
              <a:off x="0" y="0"/>
              <a:ext cx="21240750" cy="0"/>
            </a:xfrm>
            <a:custGeom>
              <a:avLst/>
              <a:gdLst/>
              <a:ahLst/>
              <a:cxnLst/>
              <a:rect l="l" t="t" r="r" b="b"/>
              <a:pathLst>
                <a:path w="21240750">
                  <a:moveTo>
                    <a:pt x="0" y="0"/>
                  </a:moveTo>
                  <a:lnTo>
                    <a:pt x="21240750" y="0"/>
                  </a:lnTo>
                </a:path>
              </a:pathLst>
            </a:custGeom>
            <a:solidFill>
              <a:srgbClr val="CC0000"/>
            </a:solidFill>
            <a:ln w="14288" cap="sq">
              <a:solidFill>
                <a:srgbClr val="CC0000"/>
              </a:solidFill>
              <a:prstDash val="solid"/>
              <a:miter/>
            </a:ln>
          </p:spPr>
        </p:sp>
      </p:grpSp>
      <p:sp>
        <p:nvSpPr>
          <p:cNvPr id="6" name="AutoShape 6"/>
          <p:cNvSpPr/>
          <p:nvPr/>
        </p:nvSpPr>
        <p:spPr>
          <a:xfrm rot="-1020">
            <a:off x="1216819" y="9253538"/>
            <a:ext cx="15854362" cy="0"/>
          </a:xfrm>
          <a:prstGeom prst="line">
            <a:avLst/>
          </a:prstGeom>
          <a:ln w="9525" cap="rnd">
            <a:solidFill>
              <a:srgbClr val="CC0000"/>
            </a:solidFill>
            <a:prstDash val="solid"/>
            <a:headEnd type="none" w="sm" len="sm"/>
            <a:tailEnd type="none" w="sm" len="sm"/>
          </a:ln>
        </p:spPr>
      </p:sp>
      <p:grpSp>
        <p:nvGrpSpPr>
          <p:cNvPr id="7" name="Group 7"/>
          <p:cNvGrpSpPr/>
          <p:nvPr/>
        </p:nvGrpSpPr>
        <p:grpSpPr>
          <a:xfrm>
            <a:off x="1149353" y="457200"/>
            <a:ext cx="16002000" cy="1824038"/>
            <a:chOff x="0" y="0"/>
            <a:chExt cx="21336000" cy="2432050"/>
          </a:xfrm>
        </p:grpSpPr>
        <p:sp>
          <p:nvSpPr>
            <p:cNvPr id="8" name="Freeform 8"/>
            <p:cNvSpPr/>
            <p:nvPr/>
          </p:nvSpPr>
          <p:spPr>
            <a:xfrm>
              <a:off x="0" y="0"/>
              <a:ext cx="21336000" cy="2432050"/>
            </a:xfrm>
            <a:custGeom>
              <a:avLst/>
              <a:gdLst/>
              <a:ahLst/>
              <a:cxnLst/>
              <a:rect l="l" t="t" r="r" b="b"/>
              <a:pathLst>
                <a:path w="21336000" h="2432050">
                  <a:moveTo>
                    <a:pt x="0" y="0"/>
                  </a:moveTo>
                  <a:lnTo>
                    <a:pt x="21336000" y="0"/>
                  </a:lnTo>
                  <a:lnTo>
                    <a:pt x="21336000" y="2432050"/>
                  </a:lnTo>
                  <a:lnTo>
                    <a:pt x="0" y="2432050"/>
                  </a:lnTo>
                  <a:close/>
                </a:path>
              </a:pathLst>
            </a:custGeom>
            <a:blipFill>
              <a:blip r:embed="rId3">
                <a:alphaModFix amt="0"/>
              </a:blip>
              <a:stretch>
                <a:fillRect t="-120939" b="-120939"/>
              </a:stretch>
            </a:blipFill>
          </p:spPr>
        </p:sp>
        <p:sp>
          <p:nvSpPr>
            <p:cNvPr id="9" name="TextBox 9"/>
            <p:cNvSpPr txBox="1"/>
            <p:nvPr/>
          </p:nvSpPr>
          <p:spPr>
            <a:xfrm>
              <a:off x="0" y="9525"/>
              <a:ext cx="21336000" cy="2422525"/>
            </a:xfrm>
            <a:prstGeom prst="rect">
              <a:avLst/>
            </a:prstGeom>
          </p:spPr>
          <p:txBody>
            <a:bodyPr lIns="0" tIns="0" rIns="0" bIns="0" rtlCol="0" anchor="b"/>
            <a:lstStyle/>
            <a:p>
              <a:pPr algn="l">
                <a:lnSpc>
                  <a:spcPts val="5760"/>
                </a:lnSpc>
              </a:pPr>
              <a:r>
                <a:rPr lang="en-US" sz="4800" b="1">
                  <a:solidFill>
                    <a:srgbClr val="FF0000"/>
                  </a:solidFill>
                  <a:latin typeface="Verdana Bold" panose="020B0804030504040204"/>
                  <a:ea typeface="Verdana Bold" panose="020B0804030504040204"/>
                  <a:cs typeface="Verdana Bold" panose="020B0804030504040204"/>
                  <a:sym typeface="Verdana Bold" panose="020B0804030504040204"/>
                </a:rPr>
                <a:t>References</a:t>
              </a:r>
            </a:p>
          </p:txBody>
        </p:sp>
      </p:grpSp>
      <p:sp>
        <p:nvSpPr>
          <p:cNvPr id="10" name="TextBox 10"/>
          <p:cNvSpPr txBox="1"/>
          <p:nvPr/>
        </p:nvSpPr>
        <p:spPr>
          <a:xfrm>
            <a:off x="13197840" y="9413557"/>
            <a:ext cx="3779520" cy="622935"/>
          </a:xfrm>
          <a:prstGeom prst="rect">
            <a:avLst/>
          </a:prstGeom>
        </p:spPr>
        <p:txBody>
          <a:bodyPr lIns="0" tIns="0" rIns="0" bIns="0" rtlCol="0" anchor="t">
            <a:spAutoFit/>
          </a:bodyPr>
          <a:lstStyle/>
          <a:p>
            <a:pPr algn="r">
              <a:lnSpc>
                <a:spcPts val="2160"/>
              </a:lnSpc>
            </a:pPr>
            <a:r>
              <a:rPr lang="en-US" sz="1800">
                <a:solidFill>
                  <a:srgbClr val="000000"/>
                </a:solidFill>
                <a:latin typeface="Verdana" panose="020B0604030504040204"/>
                <a:ea typeface="Verdana" panose="020B0604030504040204"/>
                <a:cs typeface="Verdana" panose="020B0604030504040204"/>
                <a:sym typeface="Verdana" panose="020B0604030504040204"/>
              </a:rPr>
              <a:t>11</a:t>
            </a:r>
          </a:p>
        </p:txBody>
      </p:sp>
      <p:sp>
        <p:nvSpPr>
          <p:cNvPr id="11" name="TextBox 11"/>
          <p:cNvSpPr txBox="1"/>
          <p:nvPr/>
        </p:nvSpPr>
        <p:spPr>
          <a:xfrm>
            <a:off x="1142921" y="2629048"/>
            <a:ext cx="16047244" cy="722955"/>
          </a:xfrm>
          <a:prstGeom prst="rect">
            <a:avLst/>
          </a:prstGeom>
        </p:spPr>
        <p:txBody>
          <a:bodyPr lIns="0" tIns="0" rIns="0" bIns="0" rtlCol="0" anchor="t">
            <a:spAutoFit/>
          </a:bodyPr>
          <a:lstStyle/>
          <a:p>
            <a:pPr algn="just">
              <a:lnSpc>
                <a:spcPts val="2880"/>
              </a:lnSpc>
              <a:spcBef>
                <a:spcPct val="0"/>
              </a:spcBef>
            </a:pPr>
            <a:endParaRPr lang="en-US"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880"/>
              </a:lnSpc>
              <a:spcBef>
                <a:spcPct val="0"/>
              </a:spcBef>
            </a:pPr>
            <a:endParaRPr lang="en-US"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 name="TextBox 13">
            <a:extLst>
              <a:ext uri="{FF2B5EF4-FFF2-40B4-BE49-F238E27FC236}">
                <a16:creationId xmlns:a16="http://schemas.microsoft.com/office/drawing/2014/main" id="{77F76722-7EC7-B06B-E596-068F7BC99A86}"/>
              </a:ext>
            </a:extLst>
          </p:cNvPr>
          <p:cNvSpPr txBox="1"/>
          <p:nvPr/>
        </p:nvSpPr>
        <p:spPr>
          <a:xfrm>
            <a:off x="228600" y="2521744"/>
            <a:ext cx="18026063" cy="7017306"/>
          </a:xfrm>
          <a:prstGeom prst="rect">
            <a:avLst/>
          </a:prstGeom>
          <a:noFill/>
        </p:spPr>
        <p:txBody>
          <a:bodyPr wrap="square" rtlCol="0">
            <a:spAutoFit/>
          </a:bodyPr>
          <a:lstStyle/>
          <a:p>
            <a:pPr marL="342900" lvl="0" indent="-342900" eaLnBrk="0" fontAlgn="base" hangingPunct="0">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Bagheri, S., </a:t>
            </a:r>
            <a:r>
              <a:rPr lang="en-US" altLang="en-US" sz="2400" dirty="0" err="1">
                <a:latin typeface="Times New Roman" panose="02020603050405020304" pitchFamily="18" charset="0"/>
                <a:cs typeface="Times New Roman" panose="02020603050405020304" pitchFamily="18" charset="0"/>
              </a:rPr>
              <a:t>Kermabon-Bobinnec</a:t>
            </a:r>
            <a:r>
              <a:rPr lang="en-US" altLang="en-US" sz="2400" dirty="0">
                <a:latin typeface="Times New Roman" panose="02020603050405020304" pitchFamily="18" charset="0"/>
                <a:cs typeface="Times New Roman" panose="02020603050405020304" pitchFamily="18" charset="0"/>
              </a:rPr>
              <a:t>, H., Kabir, M. E., Majumdar, S., Wang, L., </a:t>
            </a:r>
            <a:r>
              <a:rPr lang="en-US" altLang="en-US" sz="2400" dirty="0" err="1">
                <a:latin typeface="Times New Roman" panose="02020603050405020304" pitchFamily="18" charset="0"/>
                <a:cs typeface="Times New Roman" panose="02020603050405020304" pitchFamily="18" charset="0"/>
              </a:rPr>
              <a:t>Jarraya</a:t>
            </a:r>
            <a:r>
              <a:rPr lang="en-US" altLang="en-US" sz="2400" dirty="0">
                <a:latin typeface="Times New Roman" panose="02020603050405020304" pitchFamily="18" charset="0"/>
                <a:cs typeface="Times New Roman" panose="02020603050405020304" pitchFamily="18" charset="0"/>
              </a:rPr>
              <a:t>, Y., Nour, B., and </a:t>
            </a:r>
            <a:r>
              <a:rPr lang="en-US" altLang="en-US" sz="2400" dirty="0" err="1">
                <a:latin typeface="Times New Roman" panose="02020603050405020304" pitchFamily="18" charset="0"/>
                <a:cs typeface="Times New Roman" panose="02020603050405020304" pitchFamily="18" charset="0"/>
              </a:rPr>
              <a:t>Pourzandi</a:t>
            </a:r>
            <a:r>
              <a:rPr lang="en-US" altLang="en-US" sz="2400" dirty="0">
                <a:latin typeface="Times New Roman" panose="02020603050405020304" pitchFamily="18" charset="0"/>
                <a:cs typeface="Times New Roman" panose="02020603050405020304" pitchFamily="18" charset="0"/>
              </a:rPr>
              <a:t>, M., “ACE-WARP: A Cost-Effective Approach to Proactive and Non-Disruptive Incident Response in Kubernetes Clusters,” </a:t>
            </a:r>
            <a:r>
              <a:rPr lang="en-US" altLang="en-US" sz="2400" i="1" dirty="0">
                <a:latin typeface="Times New Roman" panose="02020603050405020304" pitchFamily="18" charset="0"/>
                <a:cs typeface="Times New Roman" panose="02020603050405020304" pitchFamily="18" charset="0"/>
              </a:rPr>
              <a:t>IEEE Transactions on Information Forensics and Security</a:t>
            </a:r>
            <a:r>
              <a:rPr lang="en-US" altLang="en-US" sz="2400" dirty="0">
                <a:latin typeface="Times New Roman" panose="02020603050405020304" pitchFamily="18" charset="0"/>
                <a:cs typeface="Times New Roman" panose="02020603050405020304" pitchFamily="18" charset="0"/>
              </a:rPr>
              <a:t>, vol. 19, pp. 8204–8219, 2024.</a:t>
            </a:r>
          </a:p>
          <a:p>
            <a:pPr marL="342900" lvl="0" indent="-342900" eaLnBrk="0" fontAlgn="base" hangingPunct="0">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Chaudhary, D., Durgarao, M. S. P., Mishra, D., and Kumari, S., “A Module Lattice Based Construction of Post Quantum Secure Blockchain Architecture,” </a:t>
            </a:r>
            <a:r>
              <a:rPr lang="en-US" altLang="en-US" sz="2400" i="1" dirty="0">
                <a:latin typeface="Times New Roman" panose="02020603050405020304" pitchFamily="18" charset="0"/>
                <a:cs typeface="Times New Roman" panose="02020603050405020304" pitchFamily="18" charset="0"/>
              </a:rPr>
              <a:t>Transactions on Emerging Telecommunications Technologies</a:t>
            </a:r>
            <a:r>
              <a:rPr lang="en-US" altLang="en-US" sz="2400" dirty="0">
                <a:latin typeface="Times New Roman" panose="02020603050405020304" pitchFamily="18" charset="0"/>
                <a:cs typeface="Times New Roman" panose="02020603050405020304" pitchFamily="18" charset="0"/>
              </a:rPr>
              <a:t>, vol. 35, no. 4, 2024.</a:t>
            </a:r>
          </a:p>
          <a:p>
            <a:pPr marL="342900" lvl="0" indent="-342900" eaLnBrk="0" fontAlgn="base" hangingPunct="0">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Choi, D., Seo, H., Kim, K., You, M., Shin, S., and Kim, J., “Uncovering Threats in Container Systems: A Study on Misconfigured Container Components in the Wild,” </a:t>
            </a:r>
            <a:r>
              <a:rPr lang="en-US" altLang="en-US" sz="2400" i="1" dirty="0">
                <a:latin typeface="Times New Roman" panose="02020603050405020304" pitchFamily="18" charset="0"/>
                <a:cs typeface="Times New Roman" panose="02020603050405020304" pitchFamily="18" charset="0"/>
              </a:rPr>
              <a:t>IEEE Access</a:t>
            </a:r>
            <a:r>
              <a:rPr lang="en-US" altLang="en-US" sz="2400" dirty="0">
                <a:latin typeface="Times New Roman" panose="02020603050405020304" pitchFamily="18" charset="0"/>
                <a:cs typeface="Times New Roman" panose="02020603050405020304" pitchFamily="18" charset="0"/>
              </a:rPr>
              <a:t>, vol. 12, pp. 192931–192945, 2024.</a:t>
            </a:r>
          </a:p>
          <a:p>
            <a:pPr marL="342900" lvl="0" indent="-342900" eaLnBrk="0" fontAlgn="base" hangingPunct="0">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Hamdi, A., Fourati, L., and Ayed, S., “Vulnerabilities and Attacks Assessments in Blockchain 1.0, 2.0 and 3.0: Tools, Analysis and Countermeasures,” </a:t>
            </a:r>
            <a:r>
              <a:rPr lang="en-US" altLang="en-US" sz="2400" i="1" dirty="0">
                <a:latin typeface="Times New Roman" panose="02020603050405020304" pitchFamily="18" charset="0"/>
                <a:cs typeface="Times New Roman" panose="02020603050405020304" pitchFamily="18" charset="0"/>
              </a:rPr>
              <a:t>International Journal of Information Security</a:t>
            </a:r>
            <a:r>
              <a:rPr lang="en-US" altLang="en-US" sz="2400" dirty="0">
                <a:latin typeface="Times New Roman" panose="02020603050405020304" pitchFamily="18" charset="0"/>
                <a:cs typeface="Times New Roman" panose="02020603050405020304" pitchFamily="18" charset="0"/>
              </a:rPr>
              <a:t>, vol. 23, pp. 713–757, 2024.</a:t>
            </a:r>
          </a:p>
          <a:p>
            <a:pPr marL="342900" lvl="0" indent="-342900" eaLnBrk="0" fontAlgn="base" hangingPunct="0">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Ji, I. H., Lee, J. H., Kang, M. J., Park, W. J., Jeon, S. H., and Seo, J. T., “Artificial Intelligence-Based Anomaly Detection Technology over Encrypted Traffic: A Systematic Literature Review,” </a:t>
            </a:r>
            <a:r>
              <a:rPr lang="en-US" altLang="en-US" sz="2400" i="1" dirty="0">
                <a:latin typeface="Times New Roman" panose="02020603050405020304" pitchFamily="18" charset="0"/>
                <a:cs typeface="Times New Roman" panose="02020603050405020304" pitchFamily="18" charset="0"/>
              </a:rPr>
              <a:t>Sensors</a:t>
            </a:r>
            <a:r>
              <a:rPr lang="en-US" altLang="en-US" sz="2400" dirty="0">
                <a:latin typeface="Times New Roman" panose="02020603050405020304" pitchFamily="18" charset="0"/>
                <a:cs typeface="Times New Roman" panose="02020603050405020304" pitchFamily="18" charset="0"/>
              </a:rPr>
              <a:t>, vol. 24, no. 3, p. 898, 2024.</a:t>
            </a:r>
          </a:p>
          <a:p>
            <a:pPr marL="342900" lvl="0" indent="-342900" eaLnBrk="0" fontAlgn="base" hangingPunct="0">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Luo, X., Chen, X., Chen, X., and Cheng, Q., “A Survey on the Application of Blockchain in Cryptographic Protocols,” </a:t>
            </a:r>
            <a:r>
              <a:rPr lang="en-US" altLang="en-US" sz="2400" i="1" dirty="0">
                <a:latin typeface="Times New Roman" panose="02020603050405020304" pitchFamily="18" charset="0"/>
                <a:cs typeface="Times New Roman" panose="02020603050405020304" pitchFamily="18" charset="0"/>
              </a:rPr>
              <a:t>Cybersecurity</a:t>
            </a:r>
            <a:r>
              <a:rPr lang="en-US" altLang="en-US" sz="2400" dirty="0">
                <a:latin typeface="Times New Roman" panose="02020603050405020304" pitchFamily="18" charset="0"/>
                <a:cs typeface="Times New Roman" panose="02020603050405020304" pitchFamily="18" charset="0"/>
              </a:rPr>
              <a:t>, vol. 7, no. 1, 2024.</a:t>
            </a:r>
          </a:p>
          <a:p>
            <a:pPr marL="342900" lvl="0" indent="-342900" eaLnBrk="0" fontAlgn="base" hangingPunct="0">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Ruffo, V. G. da Silva, Lent, D. M. B., </a:t>
            </a:r>
            <a:r>
              <a:rPr lang="en-US" altLang="en-US" sz="2400" dirty="0" err="1">
                <a:latin typeface="Times New Roman" panose="02020603050405020304" pitchFamily="18" charset="0"/>
                <a:cs typeface="Times New Roman" panose="02020603050405020304" pitchFamily="18" charset="0"/>
              </a:rPr>
              <a:t>Komarchesqui</a:t>
            </a:r>
            <a:r>
              <a:rPr lang="en-US" altLang="en-US" sz="2400" dirty="0">
                <a:latin typeface="Times New Roman" panose="02020603050405020304" pitchFamily="18" charset="0"/>
                <a:cs typeface="Times New Roman" panose="02020603050405020304" pitchFamily="18" charset="0"/>
              </a:rPr>
              <a:t>, M., Schiavon, V. F., Assis, M. V. O. de, Carvalho, L. F., and Proença Jr., M. L., “Anomaly and Intrusion Detection Using Deep Learning for Software-Defined Networks: A Survey,” </a:t>
            </a:r>
            <a:r>
              <a:rPr lang="en-US" altLang="en-US" sz="2400" i="1" dirty="0">
                <a:latin typeface="Times New Roman" panose="02020603050405020304" pitchFamily="18" charset="0"/>
                <a:cs typeface="Times New Roman" panose="02020603050405020304" pitchFamily="18" charset="0"/>
              </a:rPr>
              <a:t>Expert Systems with Applications</a:t>
            </a:r>
            <a:r>
              <a:rPr lang="en-US" altLang="en-US" sz="2400" dirty="0">
                <a:latin typeface="Times New Roman" panose="02020603050405020304" pitchFamily="18" charset="0"/>
                <a:cs typeface="Times New Roman" panose="02020603050405020304" pitchFamily="18" charset="0"/>
              </a:rPr>
              <a:t>, vol. 256, 2024.</a:t>
            </a:r>
          </a:p>
          <a:p>
            <a:pPr marL="342900" lvl="0" indent="-342900" eaLnBrk="0" fontAlgn="base" hangingPunct="0">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Salem, A. H., Azzam, S. M., Emam, O. E., and </a:t>
            </a:r>
            <a:r>
              <a:rPr lang="en-US" altLang="en-US" sz="2400" dirty="0" err="1">
                <a:latin typeface="Times New Roman" panose="02020603050405020304" pitchFamily="18" charset="0"/>
                <a:cs typeface="Times New Roman" panose="02020603050405020304" pitchFamily="18" charset="0"/>
              </a:rPr>
              <a:t>Abohany</a:t>
            </a:r>
            <a:r>
              <a:rPr lang="en-US" altLang="en-US" sz="2400" dirty="0">
                <a:latin typeface="Times New Roman" panose="02020603050405020304" pitchFamily="18" charset="0"/>
                <a:cs typeface="Times New Roman" panose="02020603050405020304" pitchFamily="18" charset="0"/>
              </a:rPr>
              <a:t>, A. A., “Advancing Cybersecurity: A Comprehensive Review of AI-Driven Detection Techniques,” </a:t>
            </a:r>
            <a:r>
              <a:rPr lang="en-US" altLang="en-US" sz="2400" i="1" dirty="0">
                <a:latin typeface="Times New Roman" panose="02020603050405020304" pitchFamily="18" charset="0"/>
                <a:cs typeface="Times New Roman" panose="02020603050405020304" pitchFamily="18" charset="0"/>
              </a:rPr>
              <a:t>Journal of Big Data</a:t>
            </a:r>
            <a:r>
              <a:rPr lang="en-US" altLang="en-US" sz="2400" dirty="0">
                <a:latin typeface="Times New Roman" panose="02020603050405020304" pitchFamily="18" charset="0"/>
                <a:cs typeface="Times New Roman" panose="02020603050405020304" pitchFamily="18" charset="0"/>
              </a:rPr>
              <a:t>, vol. 11, no. 105, 2024.</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212056" y="2343150"/>
            <a:ext cx="15930562" cy="178594"/>
            <a:chOff x="0" y="0"/>
            <a:chExt cx="21240750" cy="238125"/>
          </a:xfrm>
        </p:grpSpPr>
        <p:sp>
          <p:nvSpPr>
            <p:cNvPr id="4" name="Freeform 4"/>
            <p:cNvSpPr/>
            <p:nvPr/>
          </p:nvSpPr>
          <p:spPr>
            <a:xfrm>
              <a:off x="0" y="0"/>
              <a:ext cx="12425807" cy="238125"/>
            </a:xfrm>
            <a:custGeom>
              <a:avLst/>
              <a:gdLst/>
              <a:ahLst/>
              <a:cxnLst/>
              <a:rect l="l" t="t" r="r" b="b"/>
              <a:pathLst>
                <a:path w="12425807" h="238125">
                  <a:moveTo>
                    <a:pt x="0" y="0"/>
                  </a:moveTo>
                  <a:lnTo>
                    <a:pt x="12425807" y="0"/>
                  </a:lnTo>
                  <a:lnTo>
                    <a:pt x="12425807" y="238125"/>
                  </a:lnTo>
                  <a:lnTo>
                    <a:pt x="0" y="238125"/>
                  </a:lnTo>
                  <a:lnTo>
                    <a:pt x="0" y="0"/>
                  </a:lnTo>
                  <a:close/>
                </a:path>
              </a:pathLst>
            </a:custGeom>
            <a:solidFill>
              <a:srgbClr val="CC0000"/>
            </a:solidFill>
            <a:ln w="14288" cap="sq">
              <a:solidFill>
                <a:srgbClr val="CC0000"/>
              </a:solidFill>
              <a:prstDash val="solid"/>
              <a:miter/>
            </a:ln>
          </p:spPr>
        </p:sp>
        <p:sp>
          <p:nvSpPr>
            <p:cNvPr id="5" name="Freeform 5"/>
            <p:cNvSpPr/>
            <p:nvPr/>
          </p:nvSpPr>
          <p:spPr>
            <a:xfrm>
              <a:off x="0" y="0"/>
              <a:ext cx="21240750" cy="0"/>
            </a:xfrm>
            <a:custGeom>
              <a:avLst/>
              <a:gdLst/>
              <a:ahLst/>
              <a:cxnLst/>
              <a:rect l="l" t="t" r="r" b="b"/>
              <a:pathLst>
                <a:path w="21240750">
                  <a:moveTo>
                    <a:pt x="0" y="0"/>
                  </a:moveTo>
                  <a:lnTo>
                    <a:pt x="21240750" y="0"/>
                  </a:lnTo>
                </a:path>
              </a:pathLst>
            </a:custGeom>
            <a:solidFill>
              <a:srgbClr val="CC0000"/>
            </a:solidFill>
            <a:ln w="14288" cap="sq">
              <a:solidFill>
                <a:srgbClr val="CC0000"/>
              </a:solidFill>
              <a:prstDash val="solid"/>
              <a:miter/>
            </a:ln>
          </p:spPr>
        </p:sp>
      </p:grpSp>
      <p:grpSp>
        <p:nvGrpSpPr>
          <p:cNvPr id="7" name="Group 7"/>
          <p:cNvGrpSpPr/>
          <p:nvPr/>
        </p:nvGrpSpPr>
        <p:grpSpPr>
          <a:xfrm>
            <a:off x="1149353" y="457200"/>
            <a:ext cx="16002000" cy="1824038"/>
            <a:chOff x="0" y="0"/>
            <a:chExt cx="21336000" cy="2432050"/>
          </a:xfrm>
        </p:grpSpPr>
        <p:sp>
          <p:nvSpPr>
            <p:cNvPr id="8" name="Freeform 8"/>
            <p:cNvSpPr/>
            <p:nvPr/>
          </p:nvSpPr>
          <p:spPr>
            <a:xfrm>
              <a:off x="0" y="0"/>
              <a:ext cx="21336000" cy="2432050"/>
            </a:xfrm>
            <a:custGeom>
              <a:avLst/>
              <a:gdLst/>
              <a:ahLst/>
              <a:cxnLst/>
              <a:rect l="l" t="t" r="r" b="b"/>
              <a:pathLst>
                <a:path w="21336000" h="2432050">
                  <a:moveTo>
                    <a:pt x="0" y="0"/>
                  </a:moveTo>
                  <a:lnTo>
                    <a:pt x="21336000" y="0"/>
                  </a:lnTo>
                  <a:lnTo>
                    <a:pt x="21336000" y="2432050"/>
                  </a:lnTo>
                  <a:lnTo>
                    <a:pt x="0" y="2432050"/>
                  </a:lnTo>
                  <a:close/>
                </a:path>
              </a:pathLst>
            </a:custGeom>
            <a:blipFill>
              <a:blip r:embed="rId3">
                <a:alphaModFix amt="0"/>
              </a:blip>
              <a:stretch>
                <a:fillRect t="-120939" b="-120939"/>
              </a:stretch>
            </a:blipFill>
          </p:spPr>
        </p:sp>
        <p:sp>
          <p:nvSpPr>
            <p:cNvPr id="9" name="TextBox 9"/>
            <p:cNvSpPr txBox="1"/>
            <p:nvPr/>
          </p:nvSpPr>
          <p:spPr>
            <a:xfrm>
              <a:off x="0" y="9525"/>
              <a:ext cx="21336000" cy="2422525"/>
            </a:xfrm>
            <a:prstGeom prst="rect">
              <a:avLst/>
            </a:prstGeom>
          </p:spPr>
          <p:txBody>
            <a:bodyPr lIns="0" tIns="0" rIns="0" bIns="0" rtlCol="0" anchor="b"/>
            <a:lstStyle/>
            <a:p>
              <a:pPr algn="l">
                <a:lnSpc>
                  <a:spcPts val="5760"/>
                </a:lnSpc>
              </a:pPr>
              <a:r>
                <a:rPr lang="en-US" sz="4800" b="1">
                  <a:solidFill>
                    <a:srgbClr val="FF0000"/>
                  </a:solidFill>
                  <a:latin typeface="Verdana Bold" panose="020B0804030504040204"/>
                  <a:ea typeface="Verdana Bold" panose="020B0804030504040204"/>
                  <a:cs typeface="Verdana Bold" panose="020B0804030504040204"/>
                  <a:sym typeface="Verdana Bold" panose="020B0804030504040204"/>
                </a:rPr>
                <a:t>Paper Status</a:t>
              </a:r>
            </a:p>
          </p:txBody>
        </p:sp>
      </p:grpSp>
      <p:graphicFrame>
        <p:nvGraphicFramePr>
          <p:cNvPr id="6" name="Table 5">
            <a:extLst>
              <a:ext uri="{FF2B5EF4-FFF2-40B4-BE49-F238E27FC236}">
                <a16:creationId xmlns:a16="http://schemas.microsoft.com/office/drawing/2014/main" id="{8DED79EB-F244-2556-683C-9A8C13F1813B}"/>
              </a:ext>
            </a:extLst>
          </p:cNvPr>
          <p:cNvGraphicFramePr>
            <a:graphicFrameLocks noGrp="1"/>
          </p:cNvGraphicFramePr>
          <p:nvPr>
            <p:extLst>
              <p:ext uri="{D42A27DB-BD31-4B8C-83A1-F6EECF244321}">
                <p14:modId xmlns:p14="http://schemas.microsoft.com/office/powerpoint/2010/main" val="3515503204"/>
              </p:ext>
            </p:extLst>
          </p:nvPr>
        </p:nvGraphicFramePr>
        <p:xfrm>
          <a:off x="914400" y="2583655"/>
          <a:ext cx="15468600" cy="7055640"/>
        </p:xfrm>
        <a:graphic>
          <a:graphicData uri="http://schemas.openxmlformats.org/drawingml/2006/table">
            <a:tbl>
              <a:tblPr/>
              <a:tblGrid>
                <a:gridCol w="7734300">
                  <a:extLst>
                    <a:ext uri="{9D8B030D-6E8A-4147-A177-3AD203B41FA5}">
                      <a16:colId xmlns:a16="http://schemas.microsoft.com/office/drawing/2014/main" val="2845035765"/>
                    </a:ext>
                  </a:extLst>
                </a:gridCol>
                <a:gridCol w="7734300">
                  <a:extLst>
                    <a:ext uri="{9D8B030D-6E8A-4147-A177-3AD203B41FA5}">
                      <a16:colId xmlns:a16="http://schemas.microsoft.com/office/drawing/2014/main" val="2321904415"/>
                    </a:ext>
                  </a:extLst>
                </a:gridCol>
              </a:tblGrid>
              <a:tr h="881955">
                <a:tc>
                  <a:txBody>
                    <a:bodyPr/>
                    <a:lstStyle/>
                    <a:p>
                      <a:pPr algn="ctr">
                        <a:buNone/>
                      </a:pPr>
                      <a:r>
                        <a:rPr lang="en-US" sz="2400">
                          <a:latin typeface="Times New Roman" panose="02020603050405020304" pitchFamily="18" charset="0"/>
                          <a:cs typeface="Times New Roman" panose="02020603050405020304" pitchFamily="18" charset="0"/>
                        </a:rPr>
                        <a:t>Activity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buNone/>
                      </a:pPr>
                      <a:r>
                        <a:rPr lang="en-US" sz="2400">
                          <a:latin typeface="Times New Roman" panose="02020603050405020304" pitchFamily="18" charset="0"/>
                          <a:cs typeface="Times New Roman" panose="02020603050405020304" pitchFamily="18" charset="0"/>
                        </a:rPr>
                        <a:t>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189208749"/>
                  </a:ext>
                </a:extLst>
              </a:tr>
              <a:tr h="881955">
                <a:tc>
                  <a:txBody>
                    <a:bodyPr/>
                    <a:lstStyle/>
                    <a:p>
                      <a:pPr algn="ctr">
                        <a:buNone/>
                      </a:pPr>
                      <a:r>
                        <a:rPr lang="en-US" sz="2400">
                          <a:latin typeface="Times New Roman" panose="02020603050405020304" pitchFamily="18" charset="0"/>
                          <a:cs typeface="Times New Roman" panose="02020603050405020304" pitchFamily="18" charset="0"/>
                        </a:rPr>
                        <a:t>Literature Survey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buNone/>
                      </a:pPr>
                      <a:r>
                        <a:rPr lang="en-US" sz="2400">
                          <a:latin typeface="Times New Roman" panose="02020603050405020304" pitchFamily="18" charset="0"/>
                          <a:cs typeface="Times New Roman" panose="02020603050405020304" pitchFamily="18" charset="0"/>
                        </a:rPr>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739394944"/>
                  </a:ext>
                </a:extLst>
              </a:tr>
              <a:tr h="881955">
                <a:tc>
                  <a:txBody>
                    <a:bodyPr/>
                    <a:lstStyle/>
                    <a:p>
                      <a:pPr algn="ctr">
                        <a:buNone/>
                      </a:pPr>
                      <a:r>
                        <a:rPr lang="en-US" sz="2400">
                          <a:latin typeface="Times New Roman" panose="02020603050405020304" pitchFamily="18" charset="0"/>
                          <a:cs typeface="Times New Roman" panose="02020603050405020304" pitchFamily="18" charset="0"/>
                        </a:rPr>
                        <a:t>Problem Statement &amp; Objectives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buNone/>
                      </a:pPr>
                      <a:r>
                        <a:rPr lang="en-US" sz="2400">
                          <a:latin typeface="Times New Roman" panose="02020603050405020304" pitchFamily="18" charset="0"/>
                          <a:cs typeface="Times New Roman" panose="02020603050405020304" pitchFamily="18" charset="0"/>
                        </a:rPr>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947600354"/>
                  </a:ext>
                </a:extLst>
              </a:tr>
              <a:tr h="881955">
                <a:tc>
                  <a:txBody>
                    <a:bodyPr/>
                    <a:lstStyle/>
                    <a:p>
                      <a:pPr algn="ctr">
                        <a:buNone/>
                      </a:pPr>
                      <a:r>
                        <a:rPr lang="en-US" sz="2400">
                          <a:latin typeface="Times New Roman" panose="02020603050405020304" pitchFamily="18" charset="0"/>
                          <a:cs typeface="Times New Roman" panose="02020603050405020304" pitchFamily="18" charset="0"/>
                        </a:rPr>
                        <a:t>System Design &amp; Architecture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buNone/>
                      </a:pPr>
                      <a:r>
                        <a:rPr lang="en-US" sz="2400" dirty="0">
                          <a:latin typeface="Times New Roman" panose="02020603050405020304" pitchFamily="18" charset="0"/>
                          <a:cs typeface="Times New Roman" panose="02020603050405020304" pitchFamily="18" charset="0"/>
                        </a:rPr>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882195716"/>
                  </a:ext>
                </a:extLst>
              </a:tr>
              <a:tr h="881955">
                <a:tc>
                  <a:txBody>
                    <a:bodyPr/>
                    <a:lstStyle/>
                    <a:p>
                      <a:pPr algn="ctr">
                        <a:buNone/>
                      </a:pPr>
                      <a:r>
                        <a:rPr lang="en-US" sz="2400" dirty="0">
                          <a:latin typeface="Times New Roman" panose="02020603050405020304" pitchFamily="18" charset="0"/>
                          <a:cs typeface="Times New Roman" panose="02020603050405020304" pitchFamily="18" charset="0"/>
                        </a:rPr>
                        <a:t>Data Collection &amp; Preprocessing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buNone/>
                      </a:pPr>
                      <a:r>
                        <a:rPr lang="en-US" sz="2400">
                          <a:latin typeface="Times New Roman" panose="02020603050405020304" pitchFamily="18" charset="0"/>
                          <a:cs typeface="Times New Roman" panose="02020603050405020304" pitchFamily="18" charset="0"/>
                        </a:rPr>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427308866"/>
                  </a:ext>
                </a:extLst>
              </a:tr>
              <a:tr h="881955">
                <a:tc>
                  <a:txBody>
                    <a:bodyPr/>
                    <a:lstStyle/>
                    <a:p>
                      <a:pPr algn="ctr">
                        <a:buNone/>
                      </a:pPr>
                      <a:r>
                        <a:rPr lang="en-US" sz="2400">
                          <a:latin typeface="Times New Roman" panose="02020603050405020304" pitchFamily="18" charset="0"/>
                          <a:cs typeface="Times New Roman" panose="02020603050405020304" pitchFamily="18" charset="0"/>
                        </a:rPr>
                        <a:t>AI Model Training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buNone/>
                      </a:pPr>
                      <a:r>
                        <a:rPr lang="en-US" sz="2400" b="1">
                          <a:latin typeface="Times New Roman" panose="02020603050405020304" pitchFamily="18" charset="0"/>
                          <a:cs typeface="Times New Roman" panose="02020603050405020304" pitchFamily="18" charset="0"/>
                        </a:rPr>
                        <a:t>Completed</a:t>
                      </a:r>
                      <a:endParaRPr lang="en-US" sz="24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688153543"/>
                  </a:ext>
                </a:extLst>
              </a:tr>
              <a:tr h="881955">
                <a:tc>
                  <a:txBody>
                    <a:bodyPr/>
                    <a:lstStyle/>
                    <a:p>
                      <a:pPr algn="ctr">
                        <a:buNone/>
                      </a:pPr>
                      <a:r>
                        <a:rPr lang="en-US" sz="2400">
                          <a:latin typeface="Times New Roman" panose="02020603050405020304" pitchFamily="18" charset="0"/>
                          <a:cs typeface="Times New Roman" panose="02020603050405020304" pitchFamily="18" charset="0"/>
                        </a:rPr>
                        <a:t>Testing &amp; Validation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buNone/>
                      </a:pPr>
                      <a:r>
                        <a:rPr lang="en-US" sz="2400">
                          <a:latin typeface="Times New Roman" panose="02020603050405020304" pitchFamily="18" charset="0"/>
                          <a:cs typeface="Times New Roman" panose="02020603050405020304" pitchFamily="18" charset="0"/>
                        </a:rPr>
                        <a:t>To be Done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565086249"/>
                  </a:ext>
                </a:extLst>
              </a:tr>
              <a:tr h="881955">
                <a:tc>
                  <a:txBody>
                    <a:bodyPr/>
                    <a:lstStyle/>
                    <a:p>
                      <a:pPr algn="ctr">
                        <a:buNone/>
                      </a:pPr>
                      <a:r>
                        <a:rPr lang="en-US" sz="2400">
                          <a:latin typeface="Times New Roman" panose="02020603050405020304" pitchFamily="18" charset="0"/>
                          <a:cs typeface="Times New Roman" panose="02020603050405020304" pitchFamily="18" charset="0"/>
                        </a:rPr>
                        <a:t>Paper Writing &amp; Submission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buNone/>
                      </a:pPr>
                      <a:r>
                        <a:rPr lang="en-US" sz="2400" dirty="0">
                          <a:latin typeface="Times New Roman" panose="02020603050405020304" pitchFamily="18" charset="0"/>
                          <a:cs typeface="Times New Roman" panose="02020603050405020304" pitchFamily="18" charset="0"/>
                        </a:rPr>
                        <a:t>In Progress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43618805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212056" y="2343150"/>
            <a:ext cx="15930562" cy="178594"/>
            <a:chOff x="0" y="0"/>
            <a:chExt cx="21240750" cy="238125"/>
          </a:xfrm>
        </p:grpSpPr>
        <p:sp>
          <p:nvSpPr>
            <p:cNvPr id="4" name="Freeform 4"/>
            <p:cNvSpPr/>
            <p:nvPr/>
          </p:nvSpPr>
          <p:spPr>
            <a:xfrm>
              <a:off x="0" y="0"/>
              <a:ext cx="12425807" cy="238125"/>
            </a:xfrm>
            <a:custGeom>
              <a:avLst/>
              <a:gdLst/>
              <a:ahLst/>
              <a:cxnLst/>
              <a:rect l="l" t="t" r="r" b="b"/>
              <a:pathLst>
                <a:path w="12425807" h="238125">
                  <a:moveTo>
                    <a:pt x="0" y="0"/>
                  </a:moveTo>
                  <a:lnTo>
                    <a:pt x="12425807" y="0"/>
                  </a:lnTo>
                  <a:lnTo>
                    <a:pt x="12425807" y="238125"/>
                  </a:lnTo>
                  <a:lnTo>
                    <a:pt x="0" y="238125"/>
                  </a:lnTo>
                  <a:lnTo>
                    <a:pt x="0" y="0"/>
                  </a:lnTo>
                  <a:close/>
                </a:path>
              </a:pathLst>
            </a:custGeom>
            <a:solidFill>
              <a:srgbClr val="CC0000"/>
            </a:solidFill>
            <a:ln w="14288" cap="sq">
              <a:solidFill>
                <a:srgbClr val="CC0000"/>
              </a:solidFill>
              <a:prstDash val="solid"/>
              <a:miter/>
            </a:ln>
          </p:spPr>
        </p:sp>
        <p:sp>
          <p:nvSpPr>
            <p:cNvPr id="5" name="Freeform 5"/>
            <p:cNvSpPr/>
            <p:nvPr/>
          </p:nvSpPr>
          <p:spPr>
            <a:xfrm>
              <a:off x="0" y="0"/>
              <a:ext cx="21240750" cy="0"/>
            </a:xfrm>
            <a:custGeom>
              <a:avLst/>
              <a:gdLst/>
              <a:ahLst/>
              <a:cxnLst/>
              <a:rect l="l" t="t" r="r" b="b"/>
              <a:pathLst>
                <a:path w="21240750">
                  <a:moveTo>
                    <a:pt x="0" y="0"/>
                  </a:moveTo>
                  <a:lnTo>
                    <a:pt x="21240750" y="0"/>
                  </a:lnTo>
                </a:path>
              </a:pathLst>
            </a:custGeom>
            <a:solidFill>
              <a:srgbClr val="CC0000"/>
            </a:solidFill>
            <a:ln w="14288" cap="sq">
              <a:solidFill>
                <a:srgbClr val="CC0000"/>
              </a:solidFill>
              <a:prstDash val="solid"/>
              <a:miter/>
            </a:ln>
          </p:spPr>
        </p:sp>
      </p:grpSp>
      <p:sp>
        <p:nvSpPr>
          <p:cNvPr id="6" name="AutoShape 6"/>
          <p:cNvSpPr/>
          <p:nvPr/>
        </p:nvSpPr>
        <p:spPr>
          <a:xfrm rot="-1020">
            <a:off x="1216819" y="9253538"/>
            <a:ext cx="15854362" cy="0"/>
          </a:xfrm>
          <a:prstGeom prst="line">
            <a:avLst/>
          </a:prstGeom>
          <a:ln w="9525" cap="rnd">
            <a:solidFill>
              <a:srgbClr val="CC0000"/>
            </a:solidFill>
            <a:prstDash val="solid"/>
            <a:headEnd type="none" w="sm" len="sm"/>
            <a:tailEnd type="none" w="sm" len="sm"/>
          </a:ln>
        </p:spPr>
      </p:sp>
      <p:grpSp>
        <p:nvGrpSpPr>
          <p:cNvPr id="7" name="Group 7"/>
          <p:cNvGrpSpPr/>
          <p:nvPr/>
        </p:nvGrpSpPr>
        <p:grpSpPr>
          <a:xfrm>
            <a:off x="1066800" y="4752108"/>
            <a:ext cx="16002000" cy="1824038"/>
            <a:chOff x="0" y="0"/>
            <a:chExt cx="21336000" cy="2432050"/>
          </a:xfrm>
        </p:grpSpPr>
        <p:sp>
          <p:nvSpPr>
            <p:cNvPr id="8" name="Freeform 8"/>
            <p:cNvSpPr/>
            <p:nvPr/>
          </p:nvSpPr>
          <p:spPr>
            <a:xfrm>
              <a:off x="0" y="0"/>
              <a:ext cx="21336000" cy="2432050"/>
            </a:xfrm>
            <a:custGeom>
              <a:avLst/>
              <a:gdLst/>
              <a:ahLst/>
              <a:cxnLst/>
              <a:rect l="l" t="t" r="r" b="b"/>
              <a:pathLst>
                <a:path w="21336000" h="2432050">
                  <a:moveTo>
                    <a:pt x="0" y="0"/>
                  </a:moveTo>
                  <a:lnTo>
                    <a:pt x="21336000" y="0"/>
                  </a:lnTo>
                  <a:lnTo>
                    <a:pt x="21336000" y="2432050"/>
                  </a:lnTo>
                  <a:lnTo>
                    <a:pt x="0" y="2432050"/>
                  </a:lnTo>
                  <a:close/>
                </a:path>
              </a:pathLst>
            </a:custGeom>
            <a:blipFill>
              <a:blip r:embed="rId3">
                <a:alphaModFix amt="0"/>
              </a:blip>
              <a:stretch>
                <a:fillRect t="-120939" b="-120939"/>
              </a:stretch>
            </a:blipFill>
          </p:spPr>
        </p:sp>
        <p:sp>
          <p:nvSpPr>
            <p:cNvPr id="9" name="TextBox 9"/>
            <p:cNvSpPr txBox="1"/>
            <p:nvPr/>
          </p:nvSpPr>
          <p:spPr>
            <a:xfrm>
              <a:off x="0" y="0"/>
              <a:ext cx="21336000" cy="2432050"/>
            </a:xfrm>
            <a:prstGeom prst="rect">
              <a:avLst/>
            </a:prstGeom>
          </p:spPr>
          <p:txBody>
            <a:bodyPr lIns="0" tIns="0" rIns="0" bIns="0" rtlCol="0" anchor="ctr"/>
            <a:lstStyle/>
            <a:p>
              <a:pPr algn="ctr">
                <a:lnSpc>
                  <a:spcPts val="7200"/>
                </a:lnSpc>
              </a:pPr>
              <a:r>
                <a:rPr lang="en-US" sz="6000" b="1">
                  <a:solidFill>
                    <a:srgbClr val="FF0000"/>
                  </a:solidFill>
                  <a:latin typeface="Verdana Bold" panose="020B0804030504040204"/>
                  <a:ea typeface="Verdana Bold" panose="020B0804030504040204"/>
                  <a:cs typeface="Verdana Bold" panose="020B0804030504040204"/>
                  <a:sym typeface="Verdana Bold" panose="020B0804030504040204"/>
                </a:rPr>
                <a:t>Thank You</a:t>
              </a:r>
            </a:p>
          </p:txBody>
        </p:sp>
      </p:grpSp>
      <p:sp>
        <p:nvSpPr>
          <p:cNvPr id="10" name="TextBox 10"/>
          <p:cNvSpPr txBox="1"/>
          <p:nvPr/>
        </p:nvSpPr>
        <p:spPr>
          <a:xfrm>
            <a:off x="13197840" y="9413557"/>
            <a:ext cx="3779520" cy="622935"/>
          </a:xfrm>
          <a:prstGeom prst="rect">
            <a:avLst/>
          </a:prstGeom>
        </p:spPr>
        <p:txBody>
          <a:bodyPr lIns="0" tIns="0" rIns="0" bIns="0" rtlCol="0" anchor="t">
            <a:spAutoFit/>
          </a:bodyPr>
          <a:lstStyle/>
          <a:p>
            <a:pPr algn="r">
              <a:lnSpc>
                <a:spcPts val="2160"/>
              </a:lnSpc>
            </a:pPr>
            <a:r>
              <a:rPr lang="en-US" sz="1800">
                <a:solidFill>
                  <a:srgbClr val="000000"/>
                </a:solidFill>
                <a:latin typeface="Verdana" panose="020B0604030504040204"/>
                <a:ea typeface="Verdana" panose="020B0604030504040204"/>
                <a:cs typeface="Verdana" panose="020B0604030504040204"/>
                <a:sym typeface="Verdana" panose="020B0604030504040204"/>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415</TotalTime>
  <Words>1280</Words>
  <Application>Microsoft Office PowerPoint</Application>
  <PresentationFormat>Custom</PresentationFormat>
  <Paragraphs>126</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Times New Roman Bold</vt:lpstr>
      <vt:lpstr>Verdana</vt:lpstr>
      <vt:lpstr>Courier New</vt:lpstr>
      <vt:lpstr>Verdana Bold</vt:lpstr>
      <vt:lpstr>Times New Roman</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I - PPT for Attack Chain prediction and security recommendation system.pptx</dc:title>
  <dc:creator>HP</dc:creator>
  <cp:lastModifiedBy>HP</cp:lastModifiedBy>
  <cp:revision>4</cp:revision>
  <dcterms:created xsi:type="dcterms:W3CDTF">2006-08-16T00:00:00Z</dcterms:created>
  <dcterms:modified xsi:type="dcterms:W3CDTF">2026-10-07T08:07:50Z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EAFE6A7C7C7941DEABCD17B0BEC10605_13</vt:lpwstr>
  </property>
</Properties>
</file>